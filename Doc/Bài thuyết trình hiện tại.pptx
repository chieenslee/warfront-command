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70" r:id="rId14"/>
    <p:sldId id="26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8072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Slide bìa giới thiệu về dự án Warfront Command.</a:t>
            </a:r>
          </a:p>
          <a:p>
            <a:r>
              <a:rPr lang="zh-CN" dirty="0"/>
              <a:t>Mục tiêu là trình bày một cách kỹ thuật về các thuật toán đã sử dụng.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Cốt truyện của game không quá phức tạp nhưng đặt người chơi vào vai trò chỉ huy.</a:t>
            </a:r>
          </a:p>
          <a:p>
            <a:r>
              <a:rPr lang="zh-CN" dirty="0"/>
              <a:t>Nhấn mạnh vào tính chiến thuật và sự tương tác thời gian thực.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Sử dụng Pygame giúp nhóm có khả năng can thiệp sâu vào vòng lặp game.</a:t>
            </a:r>
          </a:p>
          <a:p>
            <a:r>
              <a:rPr lang="zh-CN" dirty="0"/>
              <a:t>Không bị phụ thuộc vào các module có sẵn như Unity hay Unreal.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Thuật toán A* là trái tim của hệ thống di chuyển trong game.</a:t>
            </a:r>
          </a:p>
          <a:p>
            <a:r>
              <a:rPr lang="zh-CN" dirty="0"/>
              <a:t>Hình ảnh bên cạnh minh họa đoạn code tính toán Heuristic Manhattan và tìm đường.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BFS và DFS đóng vai trò hỗ trợ khi A* không thể tìm ra đường.</a:t>
            </a:r>
          </a:p>
          <a:p>
            <a:r>
              <a:rPr lang="zh-CN" dirty="0"/>
              <a:t>Đảm bảo bot không bao giờ bị "đứng hình" khi mục tiêu không thể tiếp cận.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Hệ thống tính điểm mục tiêu (Target Scoring) giúp bot đưa ra quyết định giống người hơn.</a:t>
            </a:r>
          </a:p>
          <a:p>
            <a:r>
              <a:rPr lang="zh-CN" dirty="0"/>
              <a:t>Ví dụ: xe tăng sẽ ưu tiên bắn xe tăng địch thay vì lính bộ binh.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Kỹ năng né đạn là một điểm nhấn kỹ thuật. Bot sẽ dùng toán học vector để tính toán góc né.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Hệ thống mạng Host-Client là kiến trúc chuẩn cho game Multiplayer.</a:t>
            </a:r>
          </a:p>
          <a:p>
            <a:r>
              <a:rPr lang="zh-CN" dirty="0"/>
              <a:t>Dữ liệu được nén qua Zlib giúp giảm lag.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Hiệu ứng chiến đấu sử dụng particle system đơn giản nhưng hiệu quả.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Map Validation là công cụ nội bộ giúp đảm bảo map mới tạo không bị lỗi.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Hệ thống sử dụng vật phẩm thông minh.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28D0A-19DB-959B-3619-48B87CED7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5CFD07-539E-BEFC-FC9B-964477FCE8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BC3A69-AAC6-090F-47CF-E977521228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Hệ thống sử dụng vật phẩm thông minh.</a:t>
            </a:r>
          </a:p>
        </p:txBody>
      </p:sp>
    </p:spTree>
    <p:extLst>
      <p:ext uri="{BB962C8B-B14F-4D97-AF65-F5344CB8AC3E}">
        <p14:creationId xmlns:p14="http://schemas.microsoft.com/office/powerpoint/2010/main" val="4736491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1069E-398B-639A-1431-049E050E5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E2D1FC-996F-90BC-F4D6-3A38E3BD78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FB176C-34B0-C13B-D91E-EA69A3137C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Hệ thống sử dụng vật phẩm thông minh.</a:t>
            </a:r>
          </a:p>
        </p:txBody>
      </p:sp>
    </p:spTree>
    <p:extLst>
      <p:ext uri="{BB962C8B-B14F-4D97-AF65-F5344CB8AC3E}">
        <p14:creationId xmlns:p14="http://schemas.microsoft.com/office/powerpoint/2010/main" val="3902121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Kết thúc bài thuyết trình. Cảm ơn người nghe và dẫn link GitHub.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8572500" cy="6858000"/>
          </a:xfrm>
          <a:prstGeom prst="rect">
            <a:avLst/>
          </a:prstGeom>
          <a:gradFill>
            <a:gsLst>
              <a:gs pos="0">
                <a:srgbClr val="000000">
                  <a:alpha val="90000"/>
                </a:srgbClr>
              </a:gs>
              <a:gs pos="6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4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5"/>
          <p:cNvSpPr/>
          <p:nvPr/>
        </p:nvSpPr>
        <p:spPr>
          <a:xfrm>
            <a:off x="114300" y="0"/>
            <a:ext cx="38100" cy="68580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701040" y="815340"/>
            <a:ext cx="6364819" cy="1199912"/>
            <a:chOff x="701040" y="815340"/>
            <a:chExt cx="6364819" cy="1199912"/>
          </a:xfrm>
          <a:effectLst>
            <a:outerShdw blurRad="152400" dist="38100" dir="5400000" algn="ctr" rotWithShape="0">
              <a:srgbClr val="000000">
                <a:alpha val="60000"/>
              </a:srgbClr>
            </a:outerShdw>
          </a:effectLst>
        </p:grpSpPr>
        <p:sp>
          <p:nvSpPr>
            <p:cNvPr id="6" name="TextBox 6"/>
            <p:cNvSpPr txBox="1"/>
            <p:nvPr/>
          </p:nvSpPr>
          <p:spPr>
            <a:xfrm>
              <a:off x="701040" y="815340"/>
              <a:ext cx="6364819" cy="738664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60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FFFFFF"/>
                  </a:solidFill>
                  <a:latin typeface="Abadi" panose="020B0604020104020204" pitchFamily="34" charset="0"/>
                  <a:ea typeface="Microsoft YaHei"/>
                  <a:cs typeface="Impact"/>
                </a:rPr>
                <a:t>WARFRONT COMMAND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31520" y="1645920"/>
              <a:ext cx="5777736" cy="369332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60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FBC02D"/>
                  </a:solidFill>
                  <a:latin typeface="Arial"/>
                  <a:ea typeface="Microsoft YaHei"/>
                  <a:cs typeface="Arial"/>
                </a:rPr>
                <a:t>Bản Thuyết Trình - Đậm Chất Chiến Tranh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735330" y="2630805"/>
            <a:ext cx="3503771" cy="426720"/>
          </a:xfrm>
          <a:prstGeom prst="rect">
            <a:avLst/>
          </a:prstGeom>
          <a:noFill/>
          <a:ln>
            <a:noFill/>
          </a:ln>
          <a:effectLst>
            <a:outerShdw blurRad="152400" dist="38100" dir="5400000" algn="ctr" rotWithShape="0">
              <a:srgbClr val="000000">
                <a:alpha val="60000"/>
              </a:srgbClr>
            </a:outerShdw>
          </a:effectLst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E0E0E0"/>
                </a:solidFill>
                <a:latin typeface="Arial"/>
                <a:ea typeface="Microsoft YaHei"/>
                <a:cs typeface="Arial"/>
              </a:rPr>
              <a:t>Nhóm thực hiện: Nhóm 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35330" y="3259455"/>
            <a:ext cx="1556194" cy="426720"/>
          </a:xfrm>
          <a:prstGeom prst="rect">
            <a:avLst/>
          </a:prstGeom>
          <a:noFill/>
          <a:ln>
            <a:noFill/>
          </a:ln>
          <a:effectLst>
            <a:outerShdw blurRad="152400" dist="38100" dir="5400000" algn="ctr" rotWithShape="0">
              <a:srgbClr val="000000">
                <a:alpha val="60000"/>
              </a:srgbClr>
            </a:outerShdw>
          </a:effectLst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E0E0E0"/>
                </a:solidFill>
                <a:latin typeface="Arial"/>
                <a:ea typeface="Microsoft YaHei"/>
                <a:cs typeface="Arial"/>
              </a:rPr>
              <a:t>Mã nguồn: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35330" y="3659505"/>
            <a:ext cx="7828312" cy="426720"/>
          </a:xfrm>
          <a:prstGeom prst="rect">
            <a:avLst/>
          </a:prstGeom>
          <a:noFill/>
          <a:ln>
            <a:noFill/>
          </a:ln>
          <a:effectLst>
            <a:outerShdw blurRad="152400" dist="38100" dir="5400000" algn="ctr" rotWithShape="0">
              <a:srgbClr val="000000">
                <a:alpha val="60000"/>
              </a:srgbClr>
            </a:outerShdw>
          </a:effectLst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E0E0E0"/>
                </a:solidFill>
                <a:latin typeface="Arial"/>
                <a:ea typeface="Microsoft YaHei"/>
                <a:cs typeface="Arial"/>
              </a:rPr>
              <a:t>https://github.com/Chieenslee/Warfront-command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744855" y="6331268"/>
            <a:ext cx="11083290" cy="274320"/>
            <a:chOff x="744855" y="6331268"/>
            <a:chExt cx="11083290" cy="274320"/>
          </a:xfrm>
          <a:effectLst>
            <a:outerShdw blurRad="152400" dist="38100" dir="5400000" algn="ctr" rotWithShape="0">
              <a:srgbClr val="000000">
                <a:alpha val="60000"/>
              </a:srgbClr>
            </a:outerShdw>
          </a:effectLst>
        </p:grpSpPr>
        <p:sp>
          <p:nvSpPr>
            <p:cNvPr id="12" name="TextBox 12"/>
            <p:cNvSpPr txBox="1"/>
            <p:nvPr/>
          </p:nvSpPr>
          <p:spPr>
            <a:xfrm>
              <a:off x="744855" y="6331268"/>
              <a:ext cx="2870544" cy="274320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60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WARFRONT COMMAND | NHÓM 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45749" y="6331268"/>
              <a:ext cx="5282396" cy="274320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60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https://github.com/Chieenslee/Warfront-command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8572500" cy="6858000"/>
          </a:xfrm>
          <a:prstGeom prst="rect">
            <a:avLst/>
          </a:prstGeom>
          <a:gradFill>
            <a:gsLst>
              <a:gs pos="0">
                <a:srgbClr val="000000">
                  <a:alpha val="90000"/>
                </a:srgbClr>
              </a:gs>
              <a:gs pos="6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4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5"/>
          <p:cNvSpPr/>
          <p:nvPr/>
        </p:nvSpPr>
        <p:spPr>
          <a:xfrm>
            <a:off x="114300" y="0"/>
            <a:ext cx="38100" cy="68580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701040" y="815340"/>
            <a:ext cx="6012864" cy="1318260"/>
            <a:chOff x="701040" y="815340"/>
            <a:chExt cx="6012864" cy="1318260"/>
          </a:xfrm>
          <a:effectLst>
            <a:outerShdw blurRad="152400" dist="38100" dir="5400000" algn="ctr" rotWithShape="0">
              <a:srgbClr val="000000">
                <a:alpha val="60000"/>
              </a:srgbClr>
            </a:outerShdw>
          </a:effectLst>
        </p:grpSpPr>
        <p:sp>
          <p:nvSpPr>
            <p:cNvPr id="6" name="TextBox 6"/>
            <p:cNvSpPr txBox="1"/>
            <p:nvPr/>
          </p:nvSpPr>
          <p:spPr>
            <a:xfrm>
              <a:off x="701040" y="815340"/>
              <a:ext cx="6012864" cy="738664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60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FFFFFF"/>
                  </a:solidFill>
                  <a:latin typeface="Abadi" panose="020B0604020104020204" pitchFamily="34" charset="0"/>
                  <a:ea typeface="Microsoft YaHei"/>
                  <a:cs typeface="Impact"/>
                </a:rPr>
                <a:t>Cốt truyện &amp; Bối cảnh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31520" y="1645920"/>
              <a:ext cx="3478530" cy="487680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60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FBC02D"/>
                  </a:solidFill>
                  <a:latin typeface="Arial"/>
                  <a:ea typeface="Microsoft YaHei"/>
                  <a:cs typeface="Arial"/>
                </a:rPr>
                <a:t>Chiến trường rực lửa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735330" y="2630805"/>
            <a:ext cx="6954202" cy="426720"/>
          </a:xfrm>
          <a:prstGeom prst="rect">
            <a:avLst/>
          </a:prstGeom>
          <a:noFill/>
          <a:ln>
            <a:noFill/>
          </a:ln>
          <a:effectLst>
            <a:outerShdw blurRad="152400" dist="38100" dir="5400000" algn="ctr" rotWithShape="0">
              <a:srgbClr val="000000">
                <a:alpha val="60000"/>
              </a:srgbClr>
            </a:outerShdw>
          </a:effectLst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E0E0E0"/>
                </a:solidFill>
                <a:latin typeface="Arial"/>
                <a:ea typeface="Microsoft YaHei"/>
                <a:cs typeface="Arial"/>
              </a:rPr>
              <a:t>Người chơi hóa thân thành một vị chỉ huy chiến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35330" y="3030855"/>
            <a:ext cx="7475601" cy="426720"/>
          </a:xfrm>
          <a:prstGeom prst="rect">
            <a:avLst/>
          </a:prstGeom>
          <a:noFill/>
          <a:ln>
            <a:noFill/>
          </a:ln>
          <a:effectLst>
            <a:outerShdw blurRad="152400" dist="38100" dir="5400000" algn="ctr" rotWithShape="0">
              <a:srgbClr val="000000">
                <a:alpha val="60000"/>
              </a:srgbClr>
            </a:outerShdw>
          </a:effectLst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E0E0E0"/>
                </a:solidFill>
                <a:latin typeface="Arial"/>
                <a:ea typeface="Microsoft YaHei"/>
                <a:cs typeface="Arial"/>
              </a:rPr>
              <a:t>trường, điều khiển lực lượng quân sự chiếm đóng cứ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35330" y="3430905"/>
            <a:ext cx="881443" cy="426720"/>
          </a:xfrm>
          <a:prstGeom prst="rect">
            <a:avLst/>
          </a:prstGeom>
          <a:noFill/>
          <a:ln>
            <a:noFill/>
          </a:ln>
          <a:effectLst>
            <a:outerShdw blurRad="152400" dist="38100" dir="5400000" algn="ctr" rotWithShape="0">
              <a:srgbClr val="000000">
                <a:alpha val="60000"/>
              </a:srgbClr>
            </a:outerShdw>
          </a:effectLst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E0E0E0"/>
                </a:solidFill>
                <a:latin typeface="Arial"/>
                <a:ea typeface="Microsoft YaHei"/>
                <a:cs typeface="Arial"/>
              </a:rPr>
              <a:t>điểm.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35330" y="4059555"/>
            <a:ext cx="7306913" cy="426720"/>
          </a:xfrm>
          <a:prstGeom prst="rect">
            <a:avLst/>
          </a:prstGeom>
          <a:noFill/>
          <a:ln>
            <a:noFill/>
          </a:ln>
          <a:effectLst>
            <a:outerShdw blurRad="152400" dist="38100" dir="5400000" algn="ctr" rotWithShape="0">
              <a:srgbClr val="000000">
                <a:alpha val="60000"/>
              </a:srgbClr>
            </a:outerShdw>
          </a:effectLst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E0E0E0"/>
                </a:solidFill>
                <a:latin typeface="Arial"/>
                <a:ea typeface="Microsoft YaHei"/>
                <a:cs typeface="Arial"/>
              </a:rPr>
              <a:t>Yêu cầu phản xạ nhanh và tư duy chiến thuật nhạy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35330" y="4459605"/>
            <a:ext cx="7061549" cy="426720"/>
          </a:xfrm>
          <a:prstGeom prst="rect">
            <a:avLst/>
          </a:prstGeom>
          <a:noFill/>
          <a:ln>
            <a:noFill/>
          </a:ln>
          <a:effectLst>
            <a:outerShdw blurRad="152400" dist="38100" dir="5400000" algn="ctr" rotWithShape="0">
              <a:srgbClr val="000000">
                <a:alpha val="60000"/>
              </a:srgbClr>
            </a:outerShdw>
          </a:effectLst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E0E0E0"/>
                </a:solidFill>
                <a:latin typeface="Arial"/>
                <a:ea typeface="Microsoft YaHei"/>
                <a:cs typeface="Arial"/>
              </a:rPr>
              <a:t>bén để bày binh bố trận, khắc chế hỏa lực địch.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744855" y="6331268"/>
            <a:ext cx="11083290" cy="274320"/>
            <a:chOff x="744855" y="6331268"/>
            <a:chExt cx="11083290" cy="274320"/>
          </a:xfrm>
          <a:effectLst>
            <a:outerShdw blurRad="152400" dist="38100" dir="5400000" algn="ctr" rotWithShape="0">
              <a:srgbClr val="000000">
                <a:alpha val="60000"/>
              </a:srgbClr>
            </a:outerShdw>
          </a:effectLst>
        </p:grpSpPr>
        <p:sp>
          <p:nvSpPr>
            <p:cNvPr id="14" name="TextBox 14"/>
            <p:cNvSpPr txBox="1"/>
            <p:nvPr/>
          </p:nvSpPr>
          <p:spPr>
            <a:xfrm>
              <a:off x="744855" y="6331268"/>
              <a:ext cx="2870544" cy="274320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60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WARFRONT COMMAND | NHÓM 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545749" y="6331268"/>
              <a:ext cx="5282396" cy="274320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60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https://github.com/Chieenslee/Warfront-command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8572500" cy="6858000"/>
          </a:xfrm>
          <a:prstGeom prst="rect">
            <a:avLst/>
          </a:prstGeom>
          <a:gradFill>
            <a:gsLst>
              <a:gs pos="0">
                <a:srgbClr val="000000">
                  <a:alpha val="90000"/>
                </a:srgbClr>
              </a:gs>
              <a:gs pos="6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4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5"/>
          <p:cNvSpPr/>
          <p:nvPr/>
        </p:nvSpPr>
        <p:spPr>
          <a:xfrm>
            <a:off x="114300" y="0"/>
            <a:ext cx="38100" cy="68580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701040" y="815340"/>
            <a:ext cx="5065169" cy="1318260"/>
            <a:chOff x="701040" y="815340"/>
            <a:chExt cx="5065169" cy="1318260"/>
          </a:xfrm>
          <a:effectLst>
            <a:outerShdw blurRad="152400" dist="38100" dir="5400000" algn="ctr" rotWithShape="0">
              <a:srgbClr val="000000">
                <a:alpha val="60000"/>
              </a:srgbClr>
            </a:outerShdw>
          </a:effectLst>
        </p:grpSpPr>
        <p:sp>
          <p:nvSpPr>
            <p:cNvPr id="6" name="TextBox 6"/>
            <p:cNvSpPr txBox="1"/>
            <p:nvPr/>
          </p:nvSpPr>
          <p:spPr>
            <a:xfrm>
              <a:off x="701040" y="815340"/>
              <a:ext cx="5065169" cy="738664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60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FFFFFF"/>
                  </a:solidFill>
                  <a:latin typeface="Aptos SemiBold" panose="020F0502020204030204" pitchFamily="34" charset="0"/>
                  <a:ea typeface="Microsoft YaHei"/>
                  <a:cs typeface="Impact"/>
                </a:rPr>
                <a:t>Kiến trúc Tổng quan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31520" y="1645920"/>
              <a:ext cx="4249674" cy="487680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60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FBC02D"/>
                  </a:solidFill>
                  <a:latin typeface="Arial"/>
                  <a:ea typeface="Microsoft YaHei"/>
                  <a:cs typeface="Arial"/>
                </a:rPr>
                <a:t>Xây dựng từ con số không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735330" y="2630805"/>
            <a:ext cx="7690294" cy="426720"/>
          </a:xfrm>
          <a:prstGeom prst="rect">
            <a:avLst/>
          </a:prstGeom>
          <a:noFill/>
          <a:ln>
            <a:noFill/>
          </a:ln>
          <a:effectLst>
            <a:outerShdw blurRad="152400" dist="38100" dir="5400000" algn="ctr" rotWithShape="0">
              <a:srgbClr val="000000">
                <a:alpha val="60000"/>
              </a:srgbClr>
            </a:outerShdw>
          </a:effectLst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E0E0E0"/>
                </a:solidFill>
                <a:latin typeface="Arial"/>
                <a:ea typeface="Microsoft YaHei"/>
                <a:cs typeface="Arial"/>
              </a:rPr>
              <a:t>Dự án được xây dựng bằng Pygame thuần (không dùng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35330" y="3030855"/>
            <a:ext cx="2353628" cy="426720"/>
          </a:xfrm>
          <a:prstGeom prst="rect">
            <a:avLst/>
          </a:prstGeom>
          <a:noFill/>
          <a:ln>
            <a:noFill/>
          </a:ln>
          <a:effectLst>
            <a:outerShdw blurRad="152400" dist="38100" dir="5400000" algn="ctr" rotWithShape="0">
              <a:srgbClr val="000000">
                <a:alpha val="60000"/>
              </a:srgbClr>
            </a:outerShdw>
          </a:effectLst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E0E0E0"/>
                </a:solidFill>
                <a:latin typeface="Arial"/>
                <a:ea typeface="Microsoft YaHei"/>
                <a:cs typeface="Arial"/>
              </a:rPr>
              <a:t>engine có sẵn).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35330" y="3659505"/>
            <a:ext cx="7506271" cy="426720"/>
          </a:xfrm>
          <a:prstGeom prst="rect">
            <a:avLst/>
          </a:prstGeom>
          <a:noFill/>
          <a:ln>
            <a:noFill/>
          </a:ln>
          <a:effectLst>
            <a:outerShdw blurRad="152400" dist="38100" dir="5400000" algn="ctr" rotWithShape="0">
              <a:srgbClr val="000000">
                <a:alpha val="60000"/>
              </a:srgbClr>
            </a:outerShdw>
          </a:effectLst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E0E0E0"/>
                </a:solidFill>
                <a:latin typeface="Arial"/>
                <a:ea typeface="Microsoft YaHei"/>
                <a:cs typeface="Arial"/>
              </a:rPr>
              <a:t>Tập trung tự xây dựng vòng lặp game (Game Loop),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35330" y="4059555"/>
            <a:ext cx="7030879" cy="426720"/>
          </a:xfrm>
          <a:prstGeom prst="rect">
            <a:avLst/>
          </a:prstGeom>
          <a:noFill/>
          <a:ln>
            <a:noFill/>
          </a:ln>
          <a:effectLst>
            <a:outerShdw blurRad="152400" dist="38100" dir="5400000" algn="ctr" rotWithShape="0">
              <a:srgbClr val="000000">
                <a:alpha val="60000"/>
              </a:srgbClr>
            </a:outerShdw>
          </a:effectLst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E0E0E0"/>
                </a:solidFill>
                <a:latin typeface="Arial"/>
                <a:ea typeface="Microsoft YaHei"/>
                <a:cs typeface="Arial"/>
              </a:rPr>
              <a:t>quản lý trạng thái (State Machine) và hệ thống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35330" y="4459605"/>
            <a:ext cx="3120390" cy="426720"/>
          </a:xfrm>
          <a:prstGeom prst="rect">
            <a:avLst/>
          </a:prstGeom>
          <a:noFill/>
          <a:ln>
            <a:noFill/>
          </a:ln>
          <a:effectLst>
            <a:outerShdw blurRad="152400" dist="38100" dir="5400000" algn="ctr" rotWithShape="0">
              <a:srgbClr val="000000">
                <a:alpha val="60000"/>
              </a:srgbClr>
            </a:outerShdw>
          </a:effectLst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E0E0E0"/>
                </a:solidFill>
                <a:latin typeface="Arial"/>
                <a:ea typeface="Microsoft YaHei"/>
                <a:cs typeface="Arial"/>
              </a:rPr>
              <a:t>thực thể (Entities).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744855" y="6331268"/>
            <a:ext cx="11083290" cy="274320"/>
            <a:chOff x="744855" y="6331268"/>
            <a:chExt cx="11083290" cy="274320"/>
          </a:xfrm>
          <a:effectLst>
            <a:outerShdw blurRad="152400" dist="38100" dir="5400000" algn="ctr" rotWithShape="0">
              <a:srgbClr val="000000">
                <a:alpha val="60000"/>
              </a:srgbClr>
            </a:outerShdw>
          </a:effectLst>
        </p:grpSpPr>
        <p:sp>
          <p:nvSpPr>
            <p:cNvPr id="14" name="TextBox 14"/>
            <p:cNvSpPr txBox="1"/>
            <p:nvPr/>
          </p:nvSpPr>
          <p:spPr>
            <a:xfrm>
              <a:off x="744855" y="6331268"/>
              <a:ext cx="2870544" cy="274320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60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WARFRONT COMMAND | NHÓM 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545749" y="6331268"/>
              <a:ext cx="5282396" cy="274320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60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https://github.com/Chieenslee/Warfront-command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8572500" cy="6858000"/>
          </a:xfrm>
          <a:prstGeom prst="rect">
            <a:avLst/>
          </a:prstGeom>
          <a:gradFill>
            <a:gsLst>
              <a:gs pos="0">
                <a:srgbClr val="000000">
                  <a:alpha val="90000"/>
                </a:srgbClr>
              </a:gs>
              <a:gs pos="6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4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5"/>
          <p:cNvSpPr/>
          <p:nvPr/>
        </p:nvSpPr>
        <p:spPr>
          <a:xfrm>
            <a:off x="114300" y="0"/>
            <a:ext cx="38100" cy="68580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701040" y="815340"/>
            <a:ext cx="7156896" cy="1318260"/>
            <a:chOff x="701040" y="815340"/>
            <a:chExt cx="7156896" cy="1318260"/>
          </a:xfrm>
          <a:effectLst>
            <a:outerShdw blurRad="152400" dist="38100" dir="5400000" algn="ctr" rotWithShape="0">
              <a:srgbClr val="000000">
                <a:alpha val="60000"/>
              </a:srgbClr>
            </a:outerShdw>
          </a:effectLst>
        </p:grpSpPr>
        <p:sp>
          <p:nvSpPr>
            <p:cNvPr id="6" name="TextBox 6"/>
            <p:cNvSpPr txBox="1"/>
            <p:nvPr/>
          </p:nvSpPr>
          <p:spPr>
            <a:xfrm>
              <a:off x="701040" y="815340"/>
              <a:ext cx="7156896" cy="738664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60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FFFFFF"/>
                  </a:solidFill>
                  <a:latin typeface="Abadi" panose="020B0604020104020204" pitchFamily="34" charset="0"/>
                  <a:ea typeface="Microsoft YaHei"/>
                  <a:cs typeface="Impact"/>
                </a:rPr>
                <a:t>Thuật toán Pathfinding A*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31520" y="1645920"/>
              <a:ext cx="3899154" cy="487680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60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FBC02D"/>
                  </a:solidFill>
                  <a:latin typeface="Arial"/>
                  <a:ea typeface="Microsoft YaHei"/>
                  <a:cs typeface="Arial"/>
                </a:rPr>
                <a:t>Cốt lõi của AI Di Chuyển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735330" y="2630805"/>
            <a:ext cx="7536942" cy="426720"/>
          </a:xfrm>
          <a:prstGeom prst="rect">
            <a:avLst/>
          </a:prstGeom>
          <a:noFill/>
          <a:ln>
            <a:noFill/>
          </a:ln>
          <a:effectLst>
            <a:outerShdw blurRad="152400" dist="38100" dir="5400000" algn="ctr" rotWithShape="0">
              <a:srgbClr val="000000">
                <a:alpha val="60000"/>
              </a:srgbClr>
            </a:outerShdw>
          </a:effectLst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E0E0E0"/>
                </a:solidFill>
                <a:latin typeface="Arial"/>
                <a:ea typeface="Microsoft YaHei"/>
                <a:cs typeface="Arial"/>
              </a:rPr>
              <a:t>A* giúp bot tự động tìm đường đi ngắn nhất từ điểm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35330" y="3030855"/>
            <a:ext cx="7368254" cy="426720"/>
          </a:xfrm>
          <a:prstGeom prst="rect">
            <a:avLst/>
          </a:prstGeom>
          <a:noFill/>
          <a:ln>
            <a:noFill/>
          </a:ln>
          <a:effectLst>
            <a:outerShdw blurRad="152400" dist="38100" dir="5400000" algn="ctr" rotWithShape="0">
              <a:srgbClr val="000000">
                <a:alpha val="60000"/>
              </a:srgbClr>
            </a:outerShdw>
          </a:effectLst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E0E0E0"/>
                </a:solidFill>
                <a:latin typeface="Arial"/>
                <a:ea typeface="Microsoft YaHei"/>
                <a:cs typeface="Arial"/>
              </a:rPr>
              <a:t>hiện tại đến mục tiêu mà không bị kẹt chướng ngại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35330" y="3430905"/>
            <a:ext cx="728091" cy="426720"/>
          </a:xfrm>
          <a:prstGeom prst="rect">
            <a:avLst/>
          </a:prstGeom>
          <a:noFill/>
          <a:ln>
            <a:noFill/>
          </a:ln>
          <a:effectLst>
            <a:outerShdw blurRad="152400" dist="38100" dir="5400000" algn="ctr" rotWithShape="0">
              <a:srgbClr val="000000">
                <a:alpha val="60000"/>
              </a:srgbClr>
            </a:outerShdw>
          </a:effectLst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E0E0E0"/>
                </a:solidFill>
                <a:latin typeface="Arial"/>
                <a:ea typeface="Microsoft YaHei"/>
                <a:cs typeface="Arial"/>
              </a:rPr>
              <a:t>vật.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35330" y="4059555"/>
            <a:ext cx="7352919" cy="426720"/>
          </a:xfrm>
          <a:prstGeom prst="rect">
            <a:avLst/>
          </a:prstGeom>
          <a:noFill/>
          <a:ln>
            <a:noFill/>
          </a:ln>
          <a:effectLst>
            <a:outerShdw blurRad="152400" dist="38100" dir="5400000" algn="ctr" rotWithShape="0">
              <a:srgbClr val="000000">
                <a:alpha val="60000"/>
              </a:srgbClr>
            </a:outerShdw>
          </a:effectLst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E0E0E0"/>
                </a:solidFill>
                <a:latin typeface="Arial"/>
                <a:ea typeface="Microsoft YaHei"/>
                <a:cs typeface="Arial"/>
              </a:rPr>
              <a:t>Sử dụng Heuristic khoảng cách Manhattan kết hợp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35330" y="4459605"/>
            <a:ext cx="7598283" cy="426720"/>
          </a:xfrm>
          <a:prstGeom prst="rect">
            <a:avLst/>
          </a:prstGeom>
          <a:noFill/>
          <a:ln>
            <a:noFill/>
          </a:ln>
          <a:effectLst>
            <a:outerShdw blurRad="152400" dist="38100" dir="5400000" algn="ctr" rotWithShape="0">
              <a:srgbClr val="000000">
                <a:alpha val="60000"/>
              </a:srgbClr>
            </a:outerShdw>
          </a:effectLst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E0E0E0"/>
                </a:solidFill>
                <a:latin typeface="Arial"/>
                <a:ea typeface="Microsoft YaHei"/>
                <a:cs typeface="Arial"/>
              </a:rPr>
              <a:t>Priority Queue mang lại cảm giác 'bot biết đường'.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744855" y="6331268"/>
            <a:ext cx="11083290" cy="274320"/>
            <a:chOff x="744855" y="6331268"/>
            <a:chExt cx="11083290" cy="274320"/>
          </a:xfrm>
          <a:effectLst>
            <a:outerShdw blurRad="152400" dist="38100" dir="5400000" algn="ctr" rotWithShape="0">
              <a:srgbClr val="000000">
                <a:alpha val="60000"/>
              </a:srgbClr>
            </a:outerShdw>
          </a:effectLst>
        </p:grpSpPr>
        <p:sp>
          <p:nvSpPr>
            <p:cNvPr id="14" name="TextBox 14"/>
            <p:cNvSpPr txBox="1"/>
            <p:nvPr/>
          </p:nvSpPr>
          <p:spPr>
            <a:xfrm>
              <a:off x="744855" y="6331268"/>
              <a:ext cx="2870544" cy="274320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60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WARFRONT COMMAND | NHÓM 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545749" y="6331268"/>
              <a:ext cx="5282396" cy="274320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60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https://github.com/Chieenslee/Warfront-command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8572500" cy="6858000"/>
          </a:xfrm>
          <a:prstGeom prst="rect">
            <a:avLst/>
          </a:prstGeom>
          <a:gradFill>
            <a:gsLst>
              <a:gs pos="0">
                <a:srgbClr val="000000">
                  <a:alpha val="90000"/>
                </a:srgbClr>
              </a:gs>
              <a:gs pos="6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4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5"/>
          <p:cNvSpPr/>
          <p:nvPr/>
        </p:nvSpPr>
        <p:spPr>
          <a:xfrm>
            <a:off x="114300" y="0"/>
            <a:ext cx="38100" cy="68580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701040" y="815340"/>
            <a:ext cx="8599727" cy="1318260"/>
            <a:chOff x="701040" y="815340"/>
            <a:chExt cx="8599727" cy="1318260"/>
          </a:xfrm>
          <a:effectLst>
            <a:outerShdw blurRad="152400" dist="38100" dir="5400000" algn="ctr" rotWithShape="0">
              <a:srgbClr val="000000">
                <a:alpha val="60000"/>
              </a:srgbClr>
            </a:outerShdw>
          </a:effectLst>
        </p:grpSpPr>
        <p:sp>
          <p:nvSpPr>
            <p:cNvPr id="6" name="TextBox 6"/>
            <p:cNvSpPr txBox="1"/>
            <p:nvPr/>
          </p:nvSpPr>
          <p:spPr>
            <a:xfrm>
              <a:off x="701040" y="815340"/>
              <a:ext cx="8599727" cy="738664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60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FFFFFF"/>
                  </a:solidFill>
                  <a:latin typeface="Abadi" panose="020B0604020104020204" pitchFamily="34" charset="0"/>
                  <a:ea typeface="Microsoft YaHei"/>
                  <a:cs typeface="Impact"/>
                </a:rPr>
                <a:t>Hệ thống Fallback (BFS &amp; DFS)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31520" y="1645920"/>
              <a:ext cx="3443478" cy="487680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60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FBC02D"/>
                  </a:solidFill>
                  <a:latin typeface="Arial"/>
                  <a:ea typeface="Microsoft YaHei"/>
                  <a:cs typeface="Arial"/>
                </a:rPr>
                <a:t>Dự phòng thông minh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735330" y="2630805"/>
            <a:ext cx="7352919" cy="426720"/>
          </a:xfrm>
          <a:prstGeom prst="rect">
            <a:avLst/>
          </a:prstGeom>
          <a:noFill/>
          <a:ln>
            <a:noFill/>
          </a:ln>
          <a:effectLst>
            <a:outerShdw blurRad="152400" dist="38100" dir="5400000" algn="ctr" rotWithShape="0">
              <a:srgbClr val="000000">
                <a:alpha val="60000"/>
              </a:srgbClr>
            </a:outerShdw>
          </a:effectLst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E0E0E0"/>
                </a:solidFill>
                <a:latin typeface="Arial"/>
                <a:ea typeface="Microsoft YaHei"/>
                <a:cs typeface="Arial"/>
              </a:rPr>
              <a:t>BFS (Breadth-First Search): Giúp bot tìm vị trí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35330" y="3030855"/>
            <a:ext cx="6892861" cy="426720"/>
          </a:xfrm>
          <a:prstGeom prst="rect">
            <a:avLst/>
          </a:prstGeom>
          <a:noFill/>
          <a:ln>
            <a:noFill/>
          </a:ln>
          <a:effectLst>
            <a:outerShdw blurRad="152400" dist="38100" dir="5400000" algn="ctr" rotWithShape="0">
              <a:srgbClr val="000000">
                <a:alpha val="60000"/>
              </a:srgbClr>
            </a:outerShdw>
          </a:effectLst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E0E0E0"/>
                </a:solidFill>
                <a:latin typeface="Arial"/>
                <a:ea typeface="Microsoft YaHei"/>
                <a:cs typeface="Arial"/>
              </a:rPr>
              <a:t>gần nhất có thể đi tới khi điểm đích thực sự bị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35330" y="3430905"/>
            <a:ext cx="896779" cy="426720"/>
          </a:xfrm>
          <a:prstGeom prst="rect">
            <a:avLst/>
          </a:prstGeom>
          <a:noFill/>
          <a:ln>
            <a:noFill/>
          </a:ln>
          <a:effectLst>
            <a:outerShdw blurRad="152400" dist="38100" dir="5400000" algn="ctr" rotWithShape="0">
              <a:srgbClr val="000000">
                <a:alpha val="60000"/>
              </a:srgbClr>
            </a:outerShdw>
          </a:effectLst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E0E0E0"/>
                </a:solidFill>
                <a:latin typeface="Arial"/>
                <a:ea typeface="Microsoft YaHei"/>
                <a:cs typeface="Arial"/>
              </a:rPr>
              <a:t>chặn.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35330" y="4059555"/>
            <a:ext cx="7199566" cy="426720"/>
          </a:xfrm>
          <a:prstGeom prst="rect">
            <a:avLst/>
          </a:prstGeom>
          <a:noFill/>
          <a:ln>
            <a:noFill/>
          </a:ln>
          <a:effectLst>
            <a:outerShdw blurRad="152400" dist="38100" dir="5400000" algn="ctr" rotWithShape="0">
              <a:srgbClr val="000000">
                <a:alpha val="60000"/>
              </a:srgbClr>
            </a:outerShdw>
          </a:effectLst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E0E0E0"/>
                </a:solidFill>
                <a:latin typeface="Arial"/>
                <a:ea typeface="Microsoft YaHei"/>
                <a:cs typeface="Arial"/>
              </a:rPr>
              <a:t>DFS (Depth-First Search): Sử dụng để quét vùng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35330" y="4459605"/>
            <a:ext cx="7429595" cy="426720"/>
          </a:xfrm>
          <a:prstGeom prst="rect">
            <a:avLst/>
          </a:prstGeom>
          <a:noFill/>
          <a:ln>
            <a:noFill/>
          </a:ln>
          <a:effectLst>
            <a:outerShdw blurRad="152400" dist="38100" dir="5400000" algn="ctr" rotWithShape="0">
              <a:srgbClr val="000000">
                <a:alpha val="60000"/>
              </a:srgbClr>
            </a:outerShdw>
          </a:effectLst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E0E0E0"/>
                </a:solidFill>
                <a:latin typeface="Arial"/>
                <a:ea typeface="Microsoft YaHei"/>
                <a:cs typeface="Arial"/>
              </a:rPr>
              <a:t>liên thông, đảm bảo spawn không bị kẹt trong góc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35330" y="4859655"/>
            <a:ext cx="728091" cy="426720"/>
          </a:xfrm>
          <a:prstGeom prst="rect">
            <a:avLst/>
          </a:prstGeom>
          <a:noFill/>
          <a:ln>
            <a:noFill/>
          </a:ln>
          <a:effectLst>
            <a:outerShdw blurRad="152400" dist="38100" dir="5400000" algn="ctr" rotWithShape="0">
              <a:srgbClr val="000000">
                <a:alpha val="60000"/>
              </a:srgbClr>
            </a:outerShdw>
          </a:effectLst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E0E0E0"/>
                </a:solidFill>
                <a:latin typeface="Arial"/>
                <a:ea typeface="Microsoft YaHei"/>
                <a:cs typeface="Arial"/>
              </a:rPr>
              <a:t>kín.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744855" y="6331268"/>
            <a:ext cx="11083290" cy="274320"/>
            <a:chOff x="744855" y="6331268"/>
            <a:chExt cx="11083290" cy="274320"/>
          </a:xfrm>
          <a:effectLst>
            <a:outerShdw blurRad="152400" dist="38100" dir="5400000" algn="ctr" rotWithShape="0">
              <a:srgbClr val="000000">
                <a:alpha val="60000"/>
              </a:srgbClr>
            </a:outerShdw>
          </a:effectLst>
        </p:grpSpPr>
        <p:sp>
          <p:nvSpPr>
            <p:cNvPr id="15" name="TextBox 15"/>
            <p:cNvSpPr txBox="1"/>
            <p:nvPr/>
          </p:nvSpPr>
          <p:spPr>
            <a:xfrm>
              <a:off x="744855" y="6331268"/>
              <a:ext cx="2870544" cy="274320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60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WARFRONT COMMAND | NHÓM 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45749" y="6331268"/>
              <a:ext cx="5282396" cy="274320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60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https://github.com/Chieenslee/Warfront-command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8572500" cy="6858000"/>
          </a:xfrm>
          <a:prstGeom prst="rect">
            <a:avLst/>
          </a:prstGeom>
          <a:gradFill>
            <a:gsLst>
              <a:gs pos="0">
                <a:srgbClr val="000000">
                  <a:alpha val="90000"/>
                </a:srgbClr>
              </a:gs>
              <a:gs pos="6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4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5"/>
          <p:cNvSpPr/>
          <p:nvPr/>
        </p:nvSpPr>
        <p:spPr>
          <a:xfrm>
            <a:off x="114300" y="0"/>
            <a:ext cx="38100" cy="68580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701040" y="815340"/>
            <a:ext cx="8638262" cy="1318260"/>
            <a:chOff x="701040" y="815340"/>
            <a:chExt cx="8638262" cy="1318260"/>
          </a:xfrm>
          <a:effectLst>
            <a:outerShdw blurRad="152400" dist="38100" dir="5400000" algn="ctr" rotWithShape="0">
              <a:srgbClr val="000000">
                <a:alpha val="60000"/>
              </a:srgbClr>
            </a:outerShdw>
          </a:effectLst>
        </p:grpSpPr>
        <p:sp>
          <p:nvSpPr>
            <p:cNvPr id="6" name="TextBox 6"/>
            <p:cNvSpPr txBox="1"/>
            <p:nvPr/>
          </p:nvSpPr>
          <p:spPr>
            <a:xfrm>
              <a:off x="701040" y="815340"/>
              <a:ext cx="8638262" cy="738664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60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FFFFFF"/>
                  </a:solidFill>
                  <a:latin typeface="Abadi" panose="020B0604020104020204" pitchFamily="34" charset="0"/>
                  <a:ea typeface="Microsoft YaHei"/>
                  <a:cs typeface="Impact"/>
                </a:rPr>
                <a:t>AI Chiến Thuật - Target Scoring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31520" y="1645920"/>
              <a:ext cx="2970276" cy="487680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60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FBC02D"/>
                  </a:solidFill>
                  <a:latin typeface="Arial"/>
                  <a:ea typeface="Microsoft YaHei"/>
                  <a:cs typeface="Arial"/>
                </a:rPr>
                <a:t>Đánh giá mục tiêu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735330" y="2630805"/>
            <a:ext cx="5236654" cy="426720"/>
          </a:xfrm>
          <a:prstGeom prst="rect">
            <a:avLst/>
          </a:prstGeom>
          <a:noFill/>
          <a:ln>
            <a:noFill/>
          </a:ln>
          <a:effectLst>
            <a:outerShdw blurRad="152400" dist="38100" dir="5400000" algn="ctr" rotWithShape="0">
              <a:srgbClr val="000000">
                <a:alpha val="60000"/>
              </a:srgbClr>
            </a:outerShdw>
          </a:effectLst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E0E0E0"/>
                </a:solidFill>
                <a:latin typeface="Arial"/>
                <a:ea typeface="Microsoft YaHei"/>
                <a:cs typeface="Arial"/>
              </a:rPr>
              <a:t>Bot không bắn mục tiêu ngẫu nhiên.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35330" y="3259455"/>
            <a:ext cx="7061549" cy="426720"/>
          </a:xfrm>
          <a:prstGeom prst="rect">
            <a:avLst/>
          </a:prstGeom>
          <a:noFill/>
          <a:ln>
            <a:noFill/>
          </a:ln>
          <a:effectLst>
            <a:outerShdw blurRad="152400" dist="38100" dir="5400000" algn="ctr" rotWithShape="0">
              <a:srgbClr val="000000">
                <a:alpha val="60000"/>
              </a:srgbClr>
            </a:outerShdw>
          </a:effectLst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E0E0E0"/>
                </a:solidFill>
                <a:latin typeface="Arial"/>
                <a:ea typeface="Microsoft YaHei"/>
                <a:cs typeface="Arial"/>
              </a:rPr>
              <a:t>Hệ thống AI phân tích dựa trên vai trò: xe tăng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35330" y="3659505"/>
            <a:ext cx="7138225" cy="426720"/>
          </a:xfrm>
          <a:prstGeom prst="rect">
            <a:avLst/>
          </a:prstGeom>
          <a:noFill/>
          <a:ln>
            <a:noFill/>
          </a:ln>
          <a:effectLst>
            <a:outerShdw blurRad="152400" dist="38100" dir="5400000" algn="ctr" rotWithShape="0">
              <a:srgbClr val="000000">
                <a:alpha val="60000"/>
              </a:srgbClr>
            </a:outerShdw>
          </a:effectLst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E0E0E0"/>
                </a:solidFill>
                <a:latin typeface="Arial"/>
                <a:ea typeface="Microsoft YaHei"/>
                <a:cs typeface="Arial"/>
              </a:rPr>
              <a:t>bot sẽ ưu tiên bắn xe tăng địch vì có hệ số điểm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35330" y="4059555"/>
            <a:ext cx="3135725" cy="426720"/>
          </a:xfrm>
          <a:prstGeom prst="rect">
            <a:avLst/>
          </a:prstGeom>
          <a:noFill/>
          <a:ln>
            <a:noFill/>
          </a:ln>
          <a:effectLst>
            <a:outerShdw blurRad="152400" dist="38100" dir="5400000" algn="ctr" rotWithShape="0">
              <a:srgbClr val="000000">
                <a:alpha val="60000"/>
              </a:srgbClr>
            </a:outerShdw>
          </a:effectLst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E0E0E0"/>
                </a:solidFill>
                <a:latin typeface="Arial"/>
                <a:ea typeface="Microsoft YaHei"/>
                <a:cs typeface="Arial"/>
              </a:rPr>
              <a:t>cao hơn lính bộ binh.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744855" y="6331268"/>
            <a:ext cx="11083290" cy="274320"/>
            <a:chOff x="744855" y="6331268"/>
            <a:chExt cx="11083290" cy="274320"/>
          </a:xfrm>
          <a:effectLst>
            <a:outerShdw blurRad="152400" dist="38100" dir="5400000" algn="ctr" rotWithShape="0">
              <a:srgbClr val="000000">
                <a:alpha val="60000"/>
              </a:srgbClr>
            </a:outerShdw>
          </a:effectLst>
        </p:grpSpPr>
        <p:sp>
          <p:nvSpPr>
            <p:cNvPr id="13" name="TextBox 13"/>
            <p:cNvSpPr txBox="1"/>
            <p:nvPr/>
          </p:nvSpPr>
          <p:spPr>
            <a:xfrm>
              <a:off x="744855" y="6331268"/>
              <a:ext cx="2870544" cy="274320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60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WARFRONT COMMAND | NHÓM 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545749" y="6331268"/>
              <a:ext cx="5282396" cy="274320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60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https://github.com/Chieenslee/Warfront-command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8572500" cy="6858000"/>
          </a:xfrm>
          <a:prstGeom prst="rect">
            <a:avLst/>
          </a:prstGeom>
          <a:gradFill>
            <a:gsLst>
              <a:gs pos="0">
                <a:srgbClr val="000000">
                  <a:alpha val="90000"/>
                </a:srgbClr>
              </a:gs>
              <a:gs pos="6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4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5"/>
          <p:cNvSpPr/>
          <p:nvPr/>
        </p:nvSpPr>
        <p:spPr>
          <a:xfrm>
            <a:off x="114300" y="0"/>
            <a:ext cx="38100" cy="68580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701040" y="815340"/>
            <a:ext cx="8241039" cy="1318260"/>
            <a:chOff x="701040" y="815340"/>
            <a:chExt cx="8241039" cy="1318260"/>
          </a:xfrm>
          <a:effectLst>
            <a:outerShdw blurRad="152400" dist="38100" dir="5400000" algn="ctr" rotWithShape="0">
              <a:srgbClr val="000000">
                <a:alpha val="60000"/>
              </a:srgbClr>
            </a:outerShdw>
          </a:effectLst>
        </p:grpSpPr>
        <p:sp>
          <p:nvSpPr>
            <p:cNvPr id="6" name="TextBox 6"/>
            <p:cNvSpPr txBox="1"/>
            <p:nvPr/>
          </p:nvSpPr>
          <p:spPr>
            <a:xfrm>
              <a:off x="701040" y="815340"/>
              <a:ext cx="8241039" cy="738664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60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FFFFFF"/>
                  </a:solidFill>
                  <a:latin typeface="Abadi" panose="020B0604020104020204" pitchFamily="34" charset="0"/>
                  <a:ea typeface="Microsoft YaHei"/>
                  <a:cs typeface="Impact"/>
                </a:rPr>
                <a:t>AI Chiến Thuật - Dodge Bullet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31520" y="1645920"/>
              <a:ext cx="2497074" cy="487680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60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FBC02D"/>
                  </a:solidFill>
                  <a:latin typeface="Arial"/>
                  <a:ea typeface="Microsoft YaHei"/>
                  <a:cs typeface="Arial"/>
                </a:rPr>
                <a:t>Kỹ năng né đạn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735330" y="2630805"/>
            <a:ext cx="7475601" cy="426720"/>
          </a:xfrm>
          <a:prstGeom prst="rect">
            <a:avLst/>
          </a:prstGeom>
          <a:noFill/>
          <a:ln>
            <a:noFill/>
          </a:ln>
          <a:effectLst>
            <a:outerShdw blurRad="152400" dist="38100" dir="5400000" algn="ctr" rotWithShape="0">
              <a:srgbClr val="000000">
                <a:alpha val="60000"/>
              </a:srgbClr>
            </a:outerShdw>
          </a:effectLst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E0E0E0"/>
                </a:solidFill>
                <a:latin typeface="Arial"/>
                <a:ea typeface="Microsoft YaHei"/>
                <a:cs typeface="Arial"/>
              </a:rPr>
              <a:t>Để tăng độ khó và tính thực tế, bot được trang bị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35330" y="3030855"/>
            <a:ext cx="6708838" cy="426720"/>
          </a:xfrm>
          <a:prstGeom prst="rect">
            <a:avLst/>
          </a:prstGeom>
          <a:noFill/>
          <a:ln>
            <a:noFill/>
          </a:ln>
          <a:effectLst>
            <a:outerShdw blurRad="152400" dist="38100" dir="5400000" algn="ctr" rotWithShape="0">
              <a:srgbClr val="000000">
                <a:alpha val="60000"/>
              </a:srgbClr>
            </a:outerShdw>
          </a:effectLst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E0E0E0"/>
                </a:solidFill>
                <a:latin typeface="Arial"/>
                <a:ea typeface="Microsoft YaHei"/>
                <a:cs typeface="Arial"/>
              </a:rPr>
              <a:t>khả năng tính toán quỹ đạo đạn đang bay tới.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35330" y="3659505"/>
            <a:ext cx="7046214" cy="426720"/>
          </a:xfrm>
          <a:prstGeom prst="rect">
            <a:avLst/>
          </a:prstGeom>
          <a:noFill/>
          <a:ln>
            <a:noFill/>
          </a:ln>
          <a:effectLst>
            <a:outerShdw blurRad="152400" dist="38100" dir="5400000" algn="ctr" rotWithShape="0">
              <a:srgbClr val="000000">
                <a:alpha val="60000"/>
              </a:srgbClr>
            </a:outerShdw>
          </a:effectLst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E0E0E0"/>
                </a:solidFill>
                <a:latin typeface="Arial"/>
                <a:ea typeface="Microsoft YaHei"/>
                <a:cs typeface="Arial"/>
              </a:rPr>
              <a:t>Phản xạ nhảy né (Strafe &amp; Dodge) vuông góc với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35330" y="4059555"/>
            <a:ext cx="5482018" cy="426720"/>
          </a:xfrm>
          <a:prstGeom prst="rect">
            <a:avLst/>
          </a:prstGeom>
          <a:noFill/>
          <a:ln>
            <a:noFill/>
          </a:ln>
          <a:effectLst>
            <a:outerShdw blurRad="152400" dist="38100" dir="5400000" algn="ctr" rotWithShape="0">
              <a:srgbClr val="000000">
                <a:alpha val="60000"/>
              </a:srgbClr>
            </a:outerShdw>
          </a:effectLst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E0E0E0"/>
                </a:solidFill>
                <a:latin typeface="Arial"/>
                <a:ea typeface="Microsoft YaHei"/>
                <a:cs typeface="Arial"/>
              </a:rPr>
              <a:t>hướng đạn bằng Vector Dot-Product.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744855" y="6331268"/>
            <a:ext cx="11083290" cy="274320"/>
            <a:chOff x="744855" y="6331268"/>
            <a:chExt cx="11083290" cy="274320"/>
          </a:xfrm>
          <a:effectLst>
            <a:outerShdw blurRad="152400" dist="38100" dir="5400000" algn="ctr" rotWithShape="0">
              <a:srgbClr val="000000">
                <a:alpha val="60000"/>
              </a:srgbClr>
            </a:outerShdw>
          </a:effectLst>
        </p:grpSpPr>
        <p:sp>
          <p:nvSpPr>
            <p:cNvPr id="13" name="TextBox 13"/>
            <p:cNvSpPr txBox="1"/>
            <p:nvPr/>
          </p:nvSpPr>
          <p:spPr>
            <a:xfrm>
              <a:off x="744855" y="6331268"/>
              <a:ext cx="2870544" cy="274320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60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WARFRONT COMMAND | NHÓM 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545749" y="6331268"/>
              <a:ext cx="5282396" cy="274320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60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https://github.com/Chieenslee/Warfront-command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8572500" cy="6858000"/>
          </a:xfrm>
          <a:prstGeom prst="rect">
            <a:avLst/>
          </a:prstGeom>
          <a:gradFill>
            <a:gsLst>
              <a:gs pos="0">
                <a:srgbClr val="000000">
                  <a:alpha val="90000"/>
                </a:srgbClr>
              </a:gs>
              <a:gs pos="6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4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5"/>
          <p:cNvSpPr/>
          <p:nvPr/>
        </p:nvSpPr>
        <p:spPr>
          <a:xfrm>
            <a:off x="114300" y="0"/>
            <a:ext cx="38100" cy="68580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701040" y="815340"/>
            <a:ext cx="5735544" cy="1318260"/>
            <a:chOff x="701040" y="815340"/>
            <a:chExt cx="5735544" cy="1318260"/>
          </a:xfrm>
          <a:effectLst>
            <a:outerShdw blurRad="152400" dist="38100" dir="5400000" algn="ctr" rotWithShape="0">
              <a:srgbClr val="000000">
                <a:alpha val="60000"/>
              </a:srgbClr>
            </a:outerShdw>
          </a:effectLst>
        </p:grpSpPr>
        <p:sp>
          <p:nvSpPr>
            <p:cNvPr id="6" name="TextBox 6"/>
            <p:cNvSpPr txBox="1"/>
            <p:nvPr/>
          </p:nvSpPr>
          <p:spPr>
            <a:xfrm>
              <a:off x="701040" y="815340"/>
              <a:ext cx="5735544" cy="738664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60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FFFFFF"/>
                  </a:solidFill>
                  <a:latin typeface="Abadi" panose="020B0604020104020204" pitchFamily="34" charset="0"/>
                  <a:ea typeface="Microsoft YaHei"/>
                  <a:cs typeface="Impact"/>
                </a:rPr>
                <a:t>Kiến trúc Host/Client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31520" y="1645920"/>
              <a:ext cx="3548634" cy="487680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60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FBC02D"/>
                  </a:solidFill>
                  <a:latin typeface="Arial"/>
                  <a:ea typeface="Microsoft YaHei"/>
                  <a:cs typeface="Arial"/>
                </a:rPr>
                <a:t>Hệ thống Multiplayer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735330" y="2630805"/>
            <a:ext cx="7690294" cy="426720"/>
          </a:xfrm>
          <a:prstGeom prst="rect">
            <a:avLst/>
          </a:prstGeom>
          <a:noFill/>
          <a:ln>
            <a:noFill/>
          </a:ln>
          <a:effectLst>
            <a:outerShdw blurRad="152400" dist="38100" dir="5400000" algn="ctr" rotWithShape="0">
              <a:srgbClr val="000000">
                <a:alpha val="60000"/>
              </a:srgbClr>
            </a:outerShdw>
          </a:effectLst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E0E0E0"/>
                </a:solidFill>
                <a:latin typeface="Arial"/>
                <a:ea typeface="Microsoft YaHei"/>
                <a:cs typeface="Arial"/>
              </a:rPr>
              <a:t>Sử dụng mô hình Server Authority: Host quyết định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35330" y="3030855"/>
            <a:ext cx="5205984" cy="426720"/>
          </a:xfrm>
          <a:prstGeom prst="rect">
            <a:avLst/>
          </a:prstGeom>
          <a:noFill/>
          <a:ln>
            <a:noFill/>
          </a:ln>
          <a:effectLst>
            <a:outerShdw blurRad="152400" dist="38100" dir="5400000" algn="ctr" rotWithShape="0">
              <a:srgbClr val="000000">
                <a:alpha val="60000"/>
              </a:srgbClr>
            </a:outerShdw>
          </a:effectLst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E0E0E0"/>
                </a:solidFill>
                <a:latin typeface="Arial"/>
                <a:ea typeface="Microsoft YaHei"/>
                <a:cs typeface="Arial"/>
              </a:rPr>
              <a:t>logic game (va chạm, sát thương).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35330" y="3659505"/>
            <a:ext cx="7398925" cy="426720"/>
          </a:xfrm>
          <a:prstGeom prst="rect">
            <a:avLst/>
          </a:prstGeom>
          <a:noFill/>
          <a:ln>
            <a:noFill/>
          </a:ln>
          <a:effectLst>
            <a:outerShdw blurRad="152400" dist="38100" dir="5400000" algn="ctr" rotWithShape="0">
              <a:srgbClr val="000000">
                <a:alpha val="60000"/>
              </a:srgbClr>
            </a:outerShdw>
          </a:effectLst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E0E0E0"/>
                </a:solidFill>
                <a:latin typeface="Arial"/>
                <a:ea typeface="Microsoft YaHei"/>
                <a:cs typeface="Arial"/>
              </a:rPr>
              <a:t>Giao thức UDP + mã hóa nén Zlib giúp đồng bộ nhanh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35330" y="4059555"/>
            <a:ext cx="4960620" cy="426720"/>
          </a:xfrm>
          <a:prstGeom prst="rect">
            <a:avLst/>
          </a:prstGeom>
          <a:noFill/>
          <a:ln>
            <a:noFill/>
          </a:ln>
          <a:effectLst>
            <a:outerShdw blurRad="152400" dist="38100" dir="5400000" algn="ctr" rotWithShape="0">
              <a:srgbClr val="000000">
                <a:alpha val="60000"/>
              </a:srgbClr>
            </a:outerShdw>
          </a:effectLst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E0E0E0"/>
                </a:solidFill>
                <a:latin typeface="Arial"/>
                <a:ea typeface="Microsoft YaHei"/>
                <a:cs typeface="Arial"/>
              </a:rPr>
              <a:t>(low latency) trên kết nối mạng.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744855" y="6331268"/>
            <a:ext cx="11083290" cy="274320"/>
            <a:chOff x="744855" y="6331268"/>
            <a:chExt cx="11083290" cy="274320"/>
          </a:xfrm>
          <a:effectLst>
            <a:outerShdw blurRad="152400" dist="38100" dir="5400000" algn="ctr" rotWithShape="0">
              <a:srgbClr val="000000">
                <a:alpha val="60000"/>
              </a:srgbClr>
            </a:outerShdw>
          </a:effectLst>
        </p:grpSpPr>
        <p:sp>
          <p:nvSpPr>
            <p:cNvPr id="13" name="TextBox 13"/>
            <p:cNvSpPr txBox="1"/>
            <p:nvPr/>
          </p:nvSpPr>
          <p:spPr>
            <a:xfrm>
              <a:off x="744855" y="6331268"/>
              <a:ext cx="2870544" cy="274320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60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WARFRONT COMMAND | NHÓM 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545749" y="6331268"/>
              <a:ext cx="5282396" cy="274320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60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https://github.com/Chieenslee/Warfront-command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8572500" cy="6858000"/>
          </a:xfrm>
          <a:prstGeom prst="rect">
            <a:avLst/>
          </a:prstGeom>
          <a:gradFill>
            <a:gsLst>
              <a:gs pos="0">
                <a:srgbClr val="000000">
                  <a:alpha val="90000"/>
                </a:srgbClr>
              </a:gs>
              <a:gs pos="6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4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5"/>
          <p:cNvSpPr/>
          <p:nvPr/>
        </p:nvSpPr>
        <p:spPr>
          <a:xfrm>
            <a:off x="114300" y="0"/>
            <a:ext cx="38100" cy="68580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701040" y="815340"/>
            <a:ext cx="10174773" cy="1318260"/>
            <a:chOff x="701040" y="815340"/>
            <a:chExt cx="10174773" cy="1318260"/>
          </a:xfrm>
          <a:effectLst>
            <a:outerShdw blurRad="152400" dist="38100" dir="5400000" algn="ctr" rotWithShape="0">
              <a:srgbClr val="000000">
                <a:alpha val="60000"/>
              </a:srgbClr>
            </a:outerShdw>
          </a:effectLst>
        </p:grpSpPr>
        <p:sp>
          <p:nvSpPr>
            <p:cNvPr id="6" name="TextBox 6"/>
            <p:cNvSpPr txBox="1"/>
            <p:nvPr/>
          </p:nvSpPr>
          <p:spPr>
            <a:xfrm>
              <a:off x="701040" y="815340"/>
              <a:ext cx="10174773" cy="738664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60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FFFFFF"/>
                  </a:solidFill>
                  <a:latin typeface="Abadi" panose="020B0604020104020204" pitchFamily="34" charset="0"/>
                  <a:ea typeface="Microsoft YaHei"/>
                  <a:cs typeface="Impact"/>
                </a:rPr>
                <a:t>Hiệu ứng Chiến đấu (Combat Effects)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31520" y="1645920"/>
              <a:ext cx="3180588" cy="487680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60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FBC02D"/>
                  </a:solidFill>
                  <a:latin typeface="Arial"/>
                  <a:ea typeface="Microsoft YaHei"/>
                  <a:cs typeface="Arial"/>
                </a:rPr>
                <a:t>Hình ảnh sinh động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735330" y="2630805"/>
            <a:ext cx="6708838" cy="426720"/>
          </a:xfrm>
          <a:prstGeom prst="rect">
            <a:avLst/>
          </a:prstGeom>
          <a:noFill/>
          <a:ln>
            <a:noFill/>
          </a:ln>
          <a:effectLst>
            <a:outerShdw blurRad="152400" dist="38100" dir="5400000" algn="ctr" rotWithShape="0">
              <a:srgbClr val="000000">
                <a:alpha val="60000"/>
              </a:srgbClr>
            </a:outerShdw>
          </a:effectLst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E0E0E0"/>
                </a:solidFill>
                <a:latin typeface="Arial"/>
                <a:ea typeface="Microsoft YaHei"/>
                <a:cs typeface="Arial"/>
              </a:rPr>
              <a:t>Giao diện trực quan và sinh động là mấu chốt.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35330" y="3259455"/>
            <a:ext cx="7076884" cy="426720"/>
          </a:xfrm>
          <a:prstGeom prst="rect">
            <a:avLst/>
          </a:prstGeom>
          <a:noFill/>
          <a:ln>
            <a:noFill/>
          </a:ln>
          <a:effectLst>
            <a:outerShdw blurRad="152400" dist="38100" dir="5400000" algn="ctr" rotWithShape="0">
              <a:srgbClr val="000000">
                <a:alpha val="60000"/>
              </a:srgbClr>
            </a:outerShdw>
          </a:effectLst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E0E0E0"/>
                </a:solidFill>
                <a:latin typeface="Arial"/>
                <a:ea typeface="Microsoft YaHei"/>
                <a:cs typeface="Arial"/>
              </a:rPr>
              <a:t>Các lớp hiệu ứng như lửa, khói (tank explosion),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35330" y="3659505"/>
            <a:ext cx="7276243" cy="426720"/>
          </a:xfrm>
          <a:prstGeom prst="rect">
            <a:avLst/>
          </a:prstGeom>
          <a:noFill/>
          <a:ln>
            <a:noFill/>
          </a:ln>
          <a:effectLst>
            <a:outerShdw blurRad="152400" dist="38100" dir="5400000" algn="ctr" rotWithShape="0">
              <a:srgbClr val="000000">
                <a:alpha val="60000"/>
              </a:srgbClr>
            </a:outerShdw>
          </a:effectLst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E0E0E0"/>
                </a:solidFill>
                <a:latin typeface="Arial"/>
                <a:ea typeface="Microsoft YaHei"/>
                <a:cs typeface="Arial"/>
              </a:rPr>
              <a:t>tia đạn (muzzle flash) và vết máu được lập trình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35330" y="4059555"/>
            <a:ext cx="2537651" cy="426720"/>
          </a:xfrm>
          <a:prstGeom prst="rect">
            <a:avLst/>
          </a:prstGeom>
          <a:noFill/>
          <a:ln>
            <a:noFill/>
          </a:ln>
          <a:effectLst>
            <a:outerShdw blurRad="152400" dist="38100" dir="5400000" algn="ctr" rotWithShape="0">
              <a:srgbClr val="000000">
                <a:alpha val="60000"/>
              </a:srgbClr>
            </a:outerShdw>
          </a:effectLst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E0E0E0"/>
                </a:solidFill>
                <a:latin typeface="Arial"/>
                <a:ea typeface="Microsoft YaHei"/>
                <a:cs typeface="Arial"/>
              </a:rPr>
              <a:t>tối ưu hiệu năng.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744855" y="6331268"/>
            <a:ext cx="11083290" cy="274320"/>
            <a:chOff x="744855" y="6331268"/>
            <a:chExt cx="11083290" cy="274320"/>
          </a:xfrm>
          <a:effectLst>
            <a:outerShdw blurRad="152400" dist="38100" dir="5400000" algn="ctr" rotWithShape="0">
              <a:srgbClr val="000000">
                <a:alpha val="60000"/>
              </a:srgbClr>
            </a:outerShdw>
          </a:effectLst>
        </p:grpSpPr>
        <p:sp>
          <p:nvSpPr>
            <p:cNvPr id="13" name="TextBox 13"/>
            <p:cNvSpPr txBox="1"/>
            <p:nvPr/>
          </p:nvSpPr>
          <p:spPr>
            <a:xfrm>
              <a:off x="744855" y="6331268"/>
              <a:ext cx="2870544" cy="274320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60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WARFRONT COMMAND | NHÓM 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545749" y="6331268"/>
              <a:ext cx="5282396" cy="274320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60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https://github.com/Chieenslee/Warfront-command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8572500" cy="6858000"/>
          </a:xfrm>
          <a:prstGeom prst="rect">
            <a:avLst/>
          </a:prstGeom>
          <a:gradFill>
            <a:gsLst>
              <a:gs pos="0">
                <a:srgbClr val="000000">
                  <a:alpha val="90000"/>
                </a:srgbClr>
              </a:gs>
              <a:gs pos="6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4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5"/>
          <p:cNvSpPr/>
          <p:nvPr/>
        </p:nvSpPr>
        <p:spPr>
          <a:xfrm>
            <a:off x="114300" y="0"/>
            <a:ext cx="38100" cy="68580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701040" y="815340"/>
            <a:ext cx="6479723" cy="1318260"/>
            <a:chOff x="701040" y="815340"/>
            <a:chExt cx="6479723" cy="1318260"/>
          </a:xfrm>
          <a:effectLst>
            <a:outerShdw blurRad="152400" dist="38100" dir="5400000" algn="ctr" rotWithShape="0">
              <a:srgbClr val="000000">
                <a:alpha val="60000"/>
              </a:srgbClr>
            </a:outerShdw>
          </a:effectLst>
        </p:grpSpPr>
        <p:sp>
          <p:nvSpPr>
            <p:cNvPr id="6" name="TextBox 6"/>
            <p:cNvSpPr txBox="1"/>
            <p:nvPr/>
          </p:nvSpPr>
          <p:spPr>
            <a:xfrm>
              <a:off x="701040" y="815340"/>
              <a:ext cx="6479723" cy="738664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60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FFFFFF"/>
                  </a:solidFill>
                  <a:latin typeface="Abadi" panose="020B0604020104020204" pitchFamily="34" charset="0"/>
                  <a:ea typeface="Microsoft YaHei"/>
                  <a:cs typeface="Impact"/>
                </a:rPr>
                <a:t>Quy trình Kiểm tra Map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31520" y="1645920"/>
              <a:ext cx="2479548" cy="487680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60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FBC02D"/>
                  </a:solidFill>
                  <a:latin typeface="Arial"/>
                  <a:ea typeface="Microsoft YaHei"/>
                  <a:cs typeface="Arial"/>
                </a:rPr>
                <a:t>Map Validation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735330" y="2630805"/>
            <a:ext cx="7306913" cy="426720"/>
          </a:xfrm>
          <a:prstGeom prst="rect">
            <a:avLst/>
          </a:prstGeom>
          <a:noFill/>
          <a:ln>
            <a:noFill/>
          </a:ln>
          <a:effectLst>
            <a:outerShdw blurRad="152400" dist="38100" dir="5400000" algn="ctr" rotWithShape="0">
              <a:srgbClr val="000000">
                <a:alpha val="60000"/>
              </a:srgbClr>
            </a:outerShdw>
          </a:effectLst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E0E0E0"/>
                </a:solidFill>
                <a:latin typeface="Arial"/>
                <a:ea typeface="Microsoft YaHei"/>
                <a:cs typeface="Arial"/>
              </a:rPr>
              <a:t>Để đảm bảo chất lượng, dự án có script validation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35330" y="3030855"/>
            <a:ext cx="5650706" cy="426720"/>
          </a:xfrm>
          <a:prstGeom prst="rect">
            <a:avLst/>
          </a:prstGeom>
          <a:noFill/>
          <a:ln>
            <a:noFill/>
          </a:ln>
          <a:effectLst>
            <a:outerShdw blurRad="152400" dist="38100" dir="5400000" algn="ctr" rotWithShape="0">
              <a:srgbClr val="000000">
                <a:alpha val="60000"/>
              </a:srgbClr>
            </a:outerShdw>
          </a:effectLst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E0E0E0"/>
                </a:solidFill>
                <a:latin typeface="Arial"/>
                <a:ea typeface="Microsoft YaHei"/>
                <a:cs typeface="Arial"/>
              </a:rPr>
              <a:t>riêng để kiểm tra Map trước khi chạy.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35330" y="3659505"/>
            <a:ext cx="7613618" cy="426720"/>
          </a:xfrm>
          <a:prstGeom prst="rect">
            <a:avLst/>
          </a:prstGeom>
          <a:noFill/>
          <a:ln>
            <a:noFill/>
          </a:ln>
          <a:effectLst>
            <a:outerShdw blurRad="152400" dist="38100" dir="5400000" algn="ctr" rotWithShape="0">
              <a:srgbClr val="000000">
                <a:alpha val="60000"/>
              </a:srgbClr>
            </a:outerShdw>
          </a:effectLst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E0E0E0"/>
                </a:solidFill>
                <a:latin typeface="Arial"/>
                <a:ea typeface="Microsoft YaHei"/>
                <a:cs typeface="Arial"/>
              </a:rPr>
              <a:t>Đảm bảo vị trí spawn không chồng lấp và xe tăng đi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35330" y="4059555"/>
            <a:ext cx="1847564" cy="426720"/>
          </a:xfrm>
          <a:prstGeom prst="rect">
            <a:avLst/>
          </a:prstGeom>
          <a:noFill/>
          <a:ln>
            <a:noFill/>
          </a:ln>
          <a:effectLst>
            <a:outerShdw blurRad="152400" dist="38100" dir="5400000" algn="ctr" rotWithShape="0">
              <a:srgbClr val="000000">
                <a:alpha val="60000"/>
              </a:srgbClr>
            </a:outerShdw>
          </a:effectLst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E0E0E0"/>
                </a:solidFill>
                <a:latin typeface="Arial"/>
                <a:ea typeface="Microsoft YaHei"/>
                <a:cs typeface="Arial"/>
              </a:rPr>
              <a:t>lọt qua cửa.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744855" y="6331268"/>
            <a:ext cx="11083290" cy="274320"/>
            <a:chOff x="744855" y="6331268"/>
            <a:chExt cx="11083290" cy="274320"/>
          </a:xfrm>
          <a:effectLst>
            <a:outerShdw blurRad="152400" dist="38100" dir="5400000" algn="ctr" rotWithShape="0">
              <a:srgbClr val="000000">
                <a:alpha val="60000"/>
              </a:srgbClr>
            </a:outerShdw>
          </a:effectLst>
        </p:grpSpPr>
        <p:sp>
          <p:nvSpPr>
            <p:cNvPr id="13" name="TextBox 13"/>
            <p:cNvSpPr txBox="1"/>
            <p:nvPr/>
          </p:nvSpPr>
          <p:spPr>
            <a:xfrm>
              <a:off x="744855" y="6331268"/>
              <a:ext cx="2870544" cy="274320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60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WARFRONT COMMAND | NHÓM 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545749" y="6331268"/>
              <a:ext cx="5282396" cy="274320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60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https://github.com/Chieenslee/Warfront-command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8572500" cy="6858000"/>
          </a:xfrm>
          <a:prstGeom prst="rect">
            <a:avLst/>
          </a:prstGeom>
          <a:gradFill>
            <a:gsLst>
              <a:gs pos="0">
                <a:srgbClr val="000000">
                  <a:alpha val="90000"/>
                </a:srgbClr>
              </a:gs>
              <a:gs pos="6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4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5"/>
          <p:cNvSpPr/>
          <p:nvPr/>
        </p:nvSpPr>
        <p:spPr>
          <a:xfrm>
            <a:off x="114300" y="0"/>
            <a:ext cx="38100" cy="68580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701040" y="815340"/>
            <a:ext cx="6208431" cy="1318260"/>
            <a:chOff x="701040" y="815340"/>
            <a:chExt cx="6208431" cy="1318260"/>
          </a:xfrm>
          <a:effectLst>
            <a:outerShdw blurRad="152400" dist="38100" dir="5400000" algn="ctr" rotWithShape="0">
              <a:srgbClr val="000000">
                <a:alpha val="60000"/>
              </a:srgbClr>
            </a:outerShdw>
          </a:effectLst>
        </p:grpSpPr>
        <p:sp>
          <p:nvSpPr>
            <p:cNvPr id="6" name="TextBox 6"/>
            <p:cNvSpPr txBox="1"/>
            <p:nvPr/>
          </p:nvSpPr>
          <p:spPr>
            <a:xfrm>
              <a:off x="701040" y="815340"/>
              <a:ext cx="6208431" cy="738664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60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FFFFFF"/>
                  </a:solidFill>
                  <a:latin typeface="Abadi" panose="020B0604020104020204" pitchFamily="34" charset="0"/>
                  <a:ea typeface="Microsoft YaHei"/>
                  <a:cs typeface="Impact"/>
                </a:rPr>
                <a:t>Hệ thống Item của Bot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31520" y="1645920"/>
              <a:ext cx="2479548" cy="487680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60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FBC02D"/>
                  </a:solidFill>
                  <a:latin typeface="Arial"/>
                  <a:ea typeface="Microsoft YaHei"/>
                  <a:cs typeface="Arial"/>
                </a:rPr>
                <a:t>VIP Item Usage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735330" y="2630805"/>
            <a:ext cx="7398925" cy="426720"/>
          </a:xfrm>
          <a:prstGeom prst="rect">
            <a:avLst/>
          </a:prstGeom>
          <a:noFill/>
          <a:ln>
            <a:noFill/>
          </a:ln>
          <a:effectLst>
            <a:outerShdw blurRad="152400" dist="38100" dir="5400000" algn="ctr" rotWithShape="0">
              <a:srgbClr val="000000">
                <a:alpha val="60000"/>
              </a:srgbClr>
            </a:outerShdw>
          </a:effectLst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E0E0E0"/>
                </a:solidFill>
                <a:latin typeface="Arial"/>
                <a:ea typeface="Microsoft YaHei"/>
                <a:cs typeface="Arial"/>
              </a:rPr>
              <a:t>Bot có khả năng tự đánh giá tình huống để sử dụng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35330" y="3030855"/>
            <a:ext cx="2675668" cy="426720"/>
          </a:xfrm>
          <a:prstGeom prst="rect">
            <a:avLst/>
          </a:prstGeom>
          <a:noFill/>
          <a:ln>
            <a:noFill/>
          </a:ln>
          <a:effectLst>
            <a:outerShdw blurRad="152400" dist="38100" dir="5400000" algn="ctr" rotWithShape="0">
              <a:srgbClr val="000000">
                <a:alpha val="60000"/>
              </a:srgbClr>
            </a:outerShdw>
          </a:effectLst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E0E0E0"/>
                </a:solidFill>
                <a:latin typeface="Arial"/>
                <a:ea typeface="Microsoft YaHei"/>
                <a:cs typeface="Arial"/>
              </a:rPr>
              <a:t>Item chiến thuật.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35330" y="3659505"/>
            <a:ext cx="6954202" cy="426720"/>
          </a:xfrm>
          <a:prstGeom prst="rect">
            <a:avLst/>
          </a:prstGeom>
          <a:noFill/>
          <a:ln>
            <a:noFill/>
          </a:ln>
          <a:effectLst>
            <a:outerShdw blurRad="152400" dist="38100" dir="5400000" algn="ctr" rotWithShape="0">
              <a:srgbClr val="000000">
                <a:alpha val="60000"/>
              </a:srgbClr>
            </a:outerShdw>
          </a:effectLst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E0E0E0"/>
                </a:solidFill>
                <a:latin typeface="Arial"/>
                <a:ea typeface="Microsoft YaHei"/>
                <a:cs typeface="Arial"/>
              </a:rPr>
              <a:t>Hồi máu khi thấp HP, hoặc ném lựu đạn khi người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35330" y="4059555"/>
            <a:ext cx="4147852" cy="426720"/>
          </a:xfrm>
          <a:prstGeom prst="rect">
            <a:avLst/>
          </a:prstGeom>
          <a:noFill/>
          <a:ln>
            <a:noFill/>
          </a:ln>
          <a:effectLst>
            <a:outerShdw blurRad="152400" dist="38100" dir="5400000" algn="ctr" rotWithShape="0">
              <a:srgbClr val="000000">
                <a:alpha val="60000"/>
              </a:srgbClr>
            </a:outerShdw>
          </a:effectLst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E0E0E0"/>
                </a:solidFill>
                <a:latin typeface="Arial"/>
                <a:ea typeface="Microsoft YaHei"/>
                <a:cs typeface="Arial"/>
              </a:rPr>
              <a:t>chơi đang trốn sau vật cản.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744855" y="6331268"/>
            <a:ext cx="11083290" cy="274320"/>
            <a:chOff x="744855" y="6331268"/>
            <a:chExt cx="11083290" cy="274320"/>
          </a:xfrm>
          <a:effectLst>
            <a:outerShdw blurRad="152400" dist="38100" dir="5400000" algn="ctr" rotWithShape="0">
              <a:srgbClr val="000000">
                <a:alpha val="60000"/>
              </a:srgbClr>
            </a:outerShdw>
          </a:effectLst>
        </p:grpSpPr>
        <p:sp>
          <p:nvSpPr>
            <p:cNvPr id="13" name="TextBox 13"/>
            <p:cNvSpPr txBox="1"/>
            <p:nvPr/>
          </p:nvSpPr>
          <p:spPr>
            <a:xfrm>
              <a:off x="744855" y="6331268"/>
              <a:ext cx="2870544" cy="274320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60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WARFRONT COMMAND | NHÓM 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545749" y="6331268"/>
              <a:ext cx="5282396" cy="274320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60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https://github.com/Chieenslee/Warfront-command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BE7B6-5C05-34EE-DBA4-0B902CEDA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>
            <a:extLst>
              <a:ext uri="{FF2B5EF4-FFF2-40B4-BE49-F238E27FC236}">
                <a16:creationId xmlns:a16="http://schemas.microsoft.com/office/drawing/2014/main" id="{053136BC-C1F0-59F3-0615-CB89D66C03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2809E606-51E5-DDDA-E22C-54365AA89036}"/>
              </a:ext>
            </a:extLst>
          </p:cNvPr>
          <p:cNvSpPr/>
          <p:nvPr/>
        </p:nvSpPr>
        <p:spPr>
          <a:xfrm>
            <a:off x="0" y="0"/>
            <a:ext cx="8572500" cy="6858000"/>
          </a:xfrm>
          <a:prstGeom prst="rect">
            <a:avLst/>
          </a:prstGeom>
          <a:gradFill>
            <a:gsLst>
              <a:gs pos="0">
                <a:srgbClr val="000000">
                  <a:alpha val="90000"/>
                </a:srgbClr>
              </a:gs>
              <a:gs pos="6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7BB6668-7BCD-B137-3A98-69C5D93139ED}"/>
              </a:ext>
            </a:extLst>
          </p:cNvPr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D00740E-FB25-A2AA-89F2-BFC56BE40112}"/>
              </a:ext>
            </a:extLst>
          </p:cNvPr>
          <p:cNvSpPr/>
          <p:nvPr/>
        </p:nvSpPr>
        <p:spPr>
          <a:xfrm>
            <a:off x="114300" y="0"/>
            <a:ext cx="38100" cy="68580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78B9E16C-BA34-BCB8-3128-F33D79E04412}"/>
              </a:ext>
            </a:extLst>
          </p:cNvPr>
          <p:cNvGrpSpPr/>
          <p:nvPr/>
        </p:nvGrpSpPr>
        <p:grpSpPr>
          <a:xfrm>
            <a:off x="809854" y="815340"/>
            <a:ext cx="9632462" cy="1354217"/>
            <a:chOff x="731520" y="815340"/>
            <a:chExt cx="2698158" cy="1354217"/>
          </a:xfrm>
          <a:effectLst>
            <a:outerShdw blurRad="152400" dist="38100" dir="5400000" algn="ctr" rotWithShape="0">
              <a:srgbClr val="000000">
                <a:alpha val="60000"/>
              </a:srgbClr>
            </a:outerShdw>
          </a:effectLst>
        </p:grpSpPr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E8F7D17E-B110-223B-7A38-E21A75A95371}"/>
                </a:ext>
              </a:extLst>
            </p:cNvPr>
            <p:cNvSpPr txBox="1"/>
            <p:nvPr/>
          </p:nvSpPr>
          <p:spPr>
            <a:xfrm>
              <a:off x="1028427" y="815340"/>
              <a:ext cx="2401251" cy="1354217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60000"/>
                </a:srgbClr>
              </a:outerShdw>
            </a:effectLst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vi-VN" altLang="zh-CN" sz="8800" b="1" dirty="0">
                  <a:solidFill>
                    <a:srgbClr val="FFFFFF"/>
                  </a:solidFill>
                  <a:latin typeface="Impact"/>
                  <a:ea typeface="Microsoft YaHei"/>
                  <a:cs typeface="Impact"/>
                </a:rPr>
                <a:t>V</a:t>
              </a:r>
              <a:r>
                <a:rPr lang="en-US" altLang="zh-CN" sz="8800" b="1" dirty="0" err="1">
                  <a:solidFill>
                    <a:srgbClr val="FFFFFF"/>
                  </a:solidFill>
                  <a:latin typeface="Abadi" panose="020B0604020104020204" pitchFamily="34" charset="0"/>
                  <a:ea typeface="Microsoft YaHei"/>
                  <a:cs typeface="Impact"/>
                </a:rPr>
                <a:t>ideo</a:t>
              </a:r>
              <a:r>
                <a:rPr lang="en-US" altLang="zh-CN" sz="8800" b="1" dirty="0">
                  <a:solidFill>
                    <a:srgbClr val="FFFFFF"/>
                  </a:solidFill>
                  <a:latin typeface="Abadi" panose="020B0604020104020204" pitchFamily="34" charset="0"/>
                  <a:ea typeface="Microsoft YaHei"/>
                  <a:cs typeface="Impact"/>
                </a:rPr>
                <a:t> </a:t>
              </a:r>
              <a:r>
                <a:rPr lang="vi-VN" altLang="zh-CN" sz="8800" b="1" dirty="0">
                  <a:solidFill>
                    <a:srgbClr val="FFFFFF"/>
                  </a:solidFill>
                  <a:latin typeface="Impact"/>
                  <a:ea typeface="Microsoft YaHei"/>
                  <a:cs typeface="Impact"/>
                </a:rPr>
                <a:t>D</a:t>
              </a:r>
              <a:r>
                <a:rPr lang="en-US" altLang="zh-CN" sz="8800" b="1" dirty="0">
                  <a:solidFill>
                    <a:srgbClr val="FFFFFF"/>
                  </a:solidFill>
                  <a:latin typeface="Abadi" panose="020B0604020104020204" pitchFamily="34" charset="0"/>
                  <a:ea typeface="Microsoft YaHei"/>
                  <a:cs typeface="Impact"/>
                </a:rPr>
                <a:t>emo</a:t>
              </a:r>
              <a:endParaRPr lang="zh-CN" sz="8800" b="1" dirty="0">
                <a:solidFill>
                  <a:srgbClr val="FFFFFF"/>
                </a:solidFill>
                <a:latin typeface="Abadi" panose="020B0604020104020204" pitchFamily="34" charset="0"/>
                <a:ea typeface="Microsoft YaHei"/>
                <a:cs typeface="Impact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49A0D3E3-A6BF-4D8B-EB53-73ABAA04A361}"/>
                </a:ext>
              </a:extLst>
            </p:cNvPr>
            <p:cNvSpPr txBox="1"/>
            <p:nvPr/>
          </p:nvSpPr>
          <p:spPr>
            <a:xfrm>
              <a:off x="731520" y="1645920"/>
              <a:ext cx="18" cy="369332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60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2400" dirty="0">
                <a:solidFill>
                  <a:srgbClr val="FBC02D"/>
                </a:solidFill>
                <a:latin typeface="Arial"/>
                <a:ea typeface="Microsoft YaHei"/>
                <a:cs typeface="Arial"/>
              </a:endParaRPr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55A2AAB6-4DFE-CDF4-433C-802B5C26D912}"/>
              </a:ext>
            </a:extLst>
          </p:cNvPr>
          <p:cNvGrpSpPr/>
          <p:nvPr/>
        </p:nvGrpSpPr>
        <p:grpSpPr>
          <a:xfrm>
            <a:off x="744855" y="6331268"/>
            <a:ext cx="11083290" cy="274320"/>
            <a:chOff x="744855" y="6331268"/>
            <a:chExt cx="11083290" cy="274320"/>
          </a:xfrm>
          <a:effectLst>
            <a:outerShdw blurRad="152400" dist="38100" dir="5400000" algn="ctr" rotWithShape="0">
              <a:srgbClr val="000000">
                <a:alpha val="60000"/>
              </a:srgbClr>
            </a:outerShdw>
          </a:effectLst>
        </p:grpSpPr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D63BCAA3-2609-B549-83E0-3757639450D3}"/>
                </a:ext>
              </a:extLst>
            </p:cNvPr>
            <p:cNvSpPr txBox="1"/>
            <p:nvPr/>
          </p:nvSpPr>
          <p:spPr>
            <a:xfrm>
              <a:off x="744855" y="6331268"/>
              <a:ext cx="2870544" cy="274320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60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WARFRONT COMMAND | NHÓM 2</a:t>
              </a:r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A7334D3B-E83B-1D04-82AA-4D50CCDC7E26}"/>
                </a:ext>
              </a:extLst>
            </p:cNvPr>
            <p:cNvSpPr txBox="1"/>
            <p:nvPr/>
          </p:nvSpPr>
          <p:spPr>
            <a:xfrm>
              <a:off x="6545749" y="6331268"/>
              <a:ext cx="5282396" cy="274320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60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https://github.com/Chieenslee/Warfront-command</a:t>
              </a:r>
            </a:p>
          </p:txBody>
        </p:sp>
      </p:grpSp>
      <p:pic>
        <p:nvPicPr>
          <p:cNvPr id="16" name="Picture 15" descr="Play Button Transparent Transparent HQ PNG Download | FreePNGimg">
            <a:extLst>
              <a:ext uri="{FF2B5EF4-FFF2-40B4-BE49-F238E27FC236}">
                <a16:creationId xmlns:a16="http://schemas.microsoft.com/office/drawing/2014/main" id="{44AF55F3-4FCF-ABBA-3ECE-E81C008B1C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9816" y="2843022"/>
            <a:ext cx="1171956" cy="1171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551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D371D-4192-1C76-5567-97F8F8E44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>
            <a:extLst>
              <a:ext uri="{FF2B5EF4-FFF2-40B4-BE49-F238E27FC236}">
                <a16:creationId xmlns:a16="http://schemas.microsoft.com/office/drawing/2014/main" id="{8474DA1F-93C2-F17F-9345-258F3604C4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FF3628E4-5D8C-2358-AD3E-0DCC1A6724A1}"/>
              </a:ext>
            </a:extLst>
          </p:cNvPr>
          <p:cNvSpPr/>
          <p:nvPr/>
        </p:nvSpPr>
        <p:spPr>
          <a:xfrm>
            <a:off x="0" y="0"/>
            <a:ext cx="8572500" cy="6858000"/>
          </a:xfrm>
          <a:prstGeom prst="rect">
            <a:avLst/>
          </a:prstGeom>
          <a:gradFill>
            <a:gsLst>
              <a:gs pos="0">
                <a:srgbClr val="000000">
                  <a:alpha val="90000"/>
                </a:srgbClr>
              </a:gs>
              <a:gs pos="6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C5044A9-A3E5-41AA-BEBE-5E831714DA90}"/>
              </a:ext>
            </a:extLst>
          </p:cNvPr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D7F3216-AB52-F514-1822-98D960625EA6}"/>
              </a:ext>
            </a:extLst>
          </p:cNvPr>
          <p:cNvSpPr/>
          <p:nvPr/>
        </p:nvSpPr>
        <p:spPr>
          <a:xfrm>
            <a:off x="114300" y="0"/>
            <a:ext cx="38100" cy="68580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B4A410F4-8F44-08A3-027F-3FA0AD2523E7}"/>
              </a:ext>
            </a:extLst>
          </p:cNvPr>
          <p:cNvGrpSpPr/>
          <p:nvPr/>
        </p:nvGrpSpPr>
        <p:grpSpPr>
          <a:xfrm>
            <a:off x="809854" y="815340"/>
            <a:ext cx="9632462" cy="1354217"/>
            <a:chOff x="731520" y="815340"/>
            <a:chExt cx="2698158" cy="1354217"/>
          </a:xfrm>
          <a:effectLst>
            <a:outerShdw blurRad="152400" dist="38100" dir="5400000" algn="ctr" rotWithShape="0">
              <a:srgbClr val="000000">
                <a:alpha val="60000"/>
              </a:srgbClr>
            </a:outerShdw>
          </a:effectLst>
        </p:grpSpPr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3E00A244-A864-1C27-3158-9E6C40ACACE6}"/>
                </a:ext>
              </a:extLst>
            </p:cNvPr>
            <p:cNvSpPr txBox="1"/>
            <p:nvPr/>
          </p:nvSpPr>
          <p:spPr>
            <a:xfrm>
              <a:off x="1028427" y="815340"/>
              <a:ext cx="2401251" cy="1354217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60000"/>
                </a:srgbClr>
              </a:outerShdw>
            </a:effectLst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vi-VN" altLang="zh-CN" sz="8800" b="1" dirty="0">
                  <a:solidFill>
                    <a:srgbClr val="FFFFFF"/>
                  </a:solidFill>
                  <a:latin typeface="Impact"/>
                  <a:ea typeface="Microsoft YaHei"/>
                  <a:cs typeface="Impact"/>
                </a:rPr>
                <a:t>V</a:t>
              </a:r>
              <a:r>
                <a:rPr lang="en-US" altLang="zh-CN" sz="8800" b="1" dirty="0" err="1">
                  <a:solidFill>
                    <a:srgbClr val="FFFFFF"/>
                  </a:solidFill>
                  <a:latin typeface="Impact"/>
                  <a:ea typeface="Microsoft YaHei"/>
                  <a:cs typeface="Impact"/>
                </a:rPr>
                <a:t>ideo</a:t>
              </a:r>
              <a:r>
                <a:rPr lang="en-US" altLang="zh-CN" sz="8800" b="1" dirty="0">
                  <a:solidFill>
                    <a:srgbClr val="FFFFFF"/>
                  </a:solidFill>
                  <a:latin typeface="Impact"/>
                  <a:ea typeface="Microsoft YaHei"/>
                  <a:cs typeface="Impact"/>
                </a:rPr>
                <a:t> </a:t>
              </a:r>
              <a:r>
                <a:rPr lang="vi-VN" altLang="zh-CN" sz="8800" b="1" dirty="0">
                  <a:solidFill>
                    <a:srgbClr val="FFFFFF"/>
                  </a:solidFill>
                  <a:latin typeface="Impact"/>
                  <a:ea typeface="Microsoft YaHei"/>
                  <a:cs typeface="Impact"/>
                </a:rPr>
                <a:t>D</a:t>
              </a:r>
              <a:r>
                <a:rPr lang="en-US" altLang="zh-CN" sz="8800" b="1" dirty="0">
                  <a:solidFill>
                    <a:srgbClr val="FFFFFF"/>
                  </a:solidFill>
                  <a:latin typeface="Impact"/>
                  <a:ea typeface="Microsoft YaHei"/>
                  <a:cs typeface="Impact"/>
                </a:rPr>
                <a:t>emo</a:t>
              </a:r>
              <a:endParaRPr lang="zh-CN" sz="8800" b="1" dirty="0">
                <a:solidFill>
                  <a:srgbClr val="FFFFFF"/>
                </a:solidFill>
                <a:latin typeface="Impact"/>
                <a:ea typeface="Microsoft YaHei"/>
                <a:cs typeface="Impact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4F7F4194-2140-3C64-F431-0C8099915DC0}"/>
                </a:ext>
              </a:extLst>
            </p:cNvPr>
            <p:cNvSpPr txBox="1"/>
            <p:nvPr/>
          </p:nvSpPr>
          <p:spPr>
            <a:xfrm>
              <a:off x="731520" y="1645920"/>
              <a:ext cx="18" cy="369332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60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2400" dirty="0">
                <a:solidFill>
                  <a:srgbClr val="FBC02D"/>
                </a:solidFill>
                <a:latin typeface="Arial"/>
                <a:ea typeface="Microsoft YaHei"/>
                <a:cs typeface="Arial"/>
              </a:endParaRPr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E88050E7-AB66-A65E-0CC1-6DAD500A7FB3}"/>
              </a:ext>
            </a:extLst>
          </p:cNvPr>
          <p:cNvGrpSpPr/>
          <p:nvPr/>
        </p:nvGrpSpPr>
        <p:grpSpPr>
          <a:xfrm>
            <a:off x="744855" y="6331268"/>
            <a:ext cx="11083290" cy="274320"/>
            <a:chOff x="744855" y="6331268"/>
            <a:chExt cx="11083290" cy="274320"/>
          </a:xfrm>
          <a:effectLst>
            <a:outerShdw blurRad="152400" dist="38100" dir="5400000" algn="ctr" rotWithShape="0">
              <a:srgbClr val="000000">
                <a:alpha val="60000"/>
              </a:srgbClr>
            </a:outerShdw>
          </a:effectLst>
        </p:grpSpPr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685BCA53-8D8D-A90C-E37D-4145CBF0BD37}"/>
                </a:ext>
              </a:extLst>
            </p:cNvPr>
            <p:cNvSpPr txBox="1"/>
            <p:nvPr/>
          </p:nvSpPr>
          <p:spPr>
            <a:xfrm>
              <a:off x="744855" y="6331268"/>
              <a:ext cx="2870544" cy="274320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60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WARFRONT COMMAND | NHÓM 2</a:t>
              </a:r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49B2BF08-B5FF-55D2-DEFA-1FEFEB793540}"/>
                </a:ext>
              </a:extLst>
            </p:cNvPr>
            <p:cNvSpPr txBox="1"/>
            <p:nvPr/>
          </p:nvSpPr>
          <p:spPr>
            <a:xfrm>
              <a:off x="6545749" y="6331268"/>
              <a:ext cx="5282396" cy="274320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60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https://github.com/Chieenslee/Warfront-command</a:t>
              </a:r>
            </a:p>
          </p:txBody>
        </p:sp>
      </p:grpSp>
      <p:pic>
        <p:nvPicPr>
          <p:cNvPr id="16" name="Picture 15" descr="Play Button Transparent Transparent HQ PNG Download | FreePNGimg">
            <a:extLst>
              <a:ext uri="{FF2B5EF4-FFF2-40B4-BE49-F238E27FC236}">
                <a16:creationId xmlns:a16="http://schemas.microsoft.com/office/drawing/2014/main" id="{CE6ABE65-FC4A-A143-FB8F-3A57669BEE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9816" y="2843022"/>
            <a:ext cx="1171956" cy="1171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499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8572500" cy="6858000"/>
          </a:xfrm>
          <a:prstGeom prst="rect">
            <a:avLst/>
          </a:prstGeom>
          <a:gradFill>
            <a:gsLst>
              <a:gs pos="0">
                <a:srgbClr val="000000">
                  <a:alpha val="90000"/>
                </a:srgbClr>
              </a:gs>
              <a:gs pos="6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4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5"/>
          <p:cNvSpPr/>
          <p:nvPr/>
        </p:nvSpPr>
        <p:spPr>
          <a:xfrm>
            <a:off x="114300" y="0"/>
            <a:ext cx="38100" cy="68580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701040" y="815340"/>
            <a:ext cx="4438716" cy="1318260"/>
            <a:chOff x="701040" y="815340"/>
            <a:chExt cx="4438716" cy="1318260"/>
          </a:xfrm>
          <a:effectLst>
            <a:outerShdw blurRad="152400" dist="38100" dir="5400000" algn="ctr" rotWithShape="0">
              <a:srgbClr val="000000">
                <a:alpha val="60000"/>
              </a:srgbClr>
            </a:outerShdw>
          </a:effectLst>
        </p:grpSpPr>
        <p:sp>
          <p:nvSpPr>
            <p:cNvPr id="6" name="TextBox 6"/>
            <p:cNvSpPr txBox="1"/>
            <p:nvPr/>
          </p:nvSpPr>
          <p:spPr>
            <a:xfrm>
              <a:off x="701040" y="815340"/>
              <a:ext cx="4438716" cy="738664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60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FFFFFF"/>
                  </a:solidFill>
                  <a:latin typeface="Abadi" panose="020B0604020104020204" pitchFamily="34" charset="0"/>
                  <a:ea typeface="Microsoft YaHei"/>
                  <a:cs typeface="Impact"/>
                </a:rPr>
                <a:t>Tổng kết &amp; Q&amp;A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31520" y="1645920"/>
              <a:ext cx="4354830" cy="487680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60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FBC02D"/>
                  </a:solidFill>
                  <a:latin typeface="Arial"/>
                  <a:ea typeface="Microsoft YaHei"/>
                  <a:cs typeface="Arial"/>
                </a:rPr>
                <a:t>Chiến trường chờ đón bạn!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735330" y="2630805"/>
            <a:ext cx="7138225" cy="426720"/>
          </a:xfrm>
          <a:prstGeom prst="rect">
            <a:avLst/>
          </a:prstGeom>
          <a:noFill/>
          <a:ln>
            <a:noFill/>
          </a:ln>
          <a:effectLst>
            <a:outerShdw blurRad="152400" dist="38100" dir="5400000" algn="ctr" rotWithShape="0">
              <a:srgbClr val="000000">
                <a:alpha val="60000"/>
              </a:srgbClr>
            </a:outerShdw>
          </a:effectLst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E0E0E0"/>
                </a:solidFill>
                <a:latin typeface="Arial"/>
                <a:ea typeface="Microsoft YaHei"/>
                <a:cs typeface="Arial"/>
              </a:rPr>
              <a:t>Khả năng áp dụng thuật toán kinh điển (A*, BFS,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35330" y="3030855"/>
            <a:ext cx="7138225" cy="426720"/>
          </a:xfrm>
          <a:prstGeom prst="rect">
            <a:avLst/>
          </a:prstGeom>
          <a:noFill/>
          <a:ln>
            <a:noFill/>
          </a:ln>
          <a:effectLst>
            <a:outerShdw blurRad="152400" dist="38100" dir="5400000" algn="ctr" rotWithShape="0">
              <a:srgbClr val="000000">
                <a:alpha val="60000"/>
              </a:srgbClr>
            </a:outerShdw>
          </a:effectLst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E0E0E0"/>
                </a:solidFill>
                <a:latin typeface="Arial"/>
                <a:ea typeface="Microsoft YaHei"/>
                <a:cs typeface="Arial"/>
              </a:rPr>
              <a:t>DFS) vào trò chơi thực tế mang lại AI chân thực.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35330" y="3659505"/>
            <a:ext cx="1847564" cy="426720"/>
          </a:xfrm>
          <a:prstGeom prst="rect">
            <a:avLst/>
          </a:prstGeom>
          <a:noFill/>
          <a:ln>
            <a:noFill/>
          </a:ln>
          <a:effectLst>
            <a:outerShdw blurRad="152400" dist="38100" dir="5400000" algn="ctr" rotWithShape="0">
              <a:srgbClr val="000000">
                <a:alpha val="60000"/>
              </a:srgbClr>
            </a:outerShdw>
          </a:effectLst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E0E0E0"/>
                </a:solidFill>
                <a:latin typeface="Arial"/>
                <a:ea typeface="Microsoft YaHei"/>
                <a:cs typeface="Arial"/>
              </a:rPr>
              <a:t>Link GitHub: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35330" y="4059555"/>
            <a:ext cx="7828312" cy="426720"/>
          </a:xfrm>
          <a:prstGeom prst="rect">
            <a:avLst/>
          </a:prstGeom>
          <a:noFill/>
          <a:ln>
            <a:noFill/>
          </a:ln>
          <a:effectLst>
            <a:outerShdw blurRad="152400" dist="38100" dir="5400000" algn="ctr" rotWithShape="0">
              <a:srgbClr val="000000">
                <a:alpha val="60000"/>
              </a:srgbClr>
            </a:outerShdw>
          </a:effectLst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E0E0E0"/>
                </a:solidFill>
                <a:latin typeface="Arial"/>
                <a:ea typeface="Microsoft YaHei"/>
                <a:cs typeface="Arial"/>
              </a:rPr>
              <a:t>https://github.com/Chieenslee/Warfront-command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35330" y="4688205"/>
            <a:ext cx="2752344" cy="426720"/>
          </a:xfrm>
          <a:prstGeom prst="rect">
            <a:avLst/>
          </a:prstGeom>
          <a:noFill/>
          <a:ln>
            <a:noFill/>
          </a:ln>
          <a:effectLst>
            <a:outerShdw blurRad="152400" dist="38100" dir="5400000" algn="ctr" rotWithShape="0">
              <a:srgbClr val="000000">
                <a:alpha val="60000"/>
              </a:srgbClr>
            </a:outerShdw>
          </a:effectLst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E0E0E0"/>
                </a:solidFill>
                <a:latin typeface="Arial"/>
                <a:ea typeface="Microsoft YaHei"/>
                <a:cs typeface="Arial"/>
              </a:rPr>
              <a:t>Nhóm 2 xin cảm ơn!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744855" y="6331268"/>
            <a:ext cx="11083290" cy="274320"/>
            <a:chOff x="744855" y="6331268"/>
            <a:chExt cx="11083290" cy="274320"/>
          </a:xfrm>
          <a:effectLst>
            <a:outerShdw blurRad="152400" dist="38100" dir="5400000" algn="ctr" rotWithShape="0">
              <a:srgbClr val="000000">
                <a:alpha val="60000"/>
              </a:srgbClr>
            </a:outerShdw>
          </a:effectLst>
        </p:grpSpPr>
        <p:sp>
          <p:nvSpPr>
            <p:cNvPr id="14" name="TextBox 14"/>
            <p:cNvSpPr txBox="1"/>
            <p:nvPr/>
          </p:nvSpPr>
          <p:spPr>
            <a:xfrm>
              <a:off x="744855" y="6331268"/>
              <a:ext cx="2870544" cy="274320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60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WARFRONT COMMAND | NHÓM 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545749" y="6331268"/>
              <a:ext cx="5282396" cy="274320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8100" dir="5400000" algn="ctr" rotWithShape="0">
                <a:srgbClr val="000000">
                  <a:alpha val="60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https://github.com/Chieenslee/Warfront-command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4060</Words>
  <Application>Microsoft Office PowerPoint</Application>
  <PresentationFormat>Widescreen</PresentationFormat>
  <Paragraphs>128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Abadi</vt:lpstr>
      <vt:lpstr>Aptos SemiBold</vt:lpstr>
      <vt:lpstr>Arial</vt:lpstr>
      <vt:lpstr>Calibri</vt:lpstr>
      <vt:lpstr>Impact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1871020089 Lê Trọng Chiến</cp:lastModifiedBy>
  <cp:revision>4</cp:revision>
  <dcterms:created xsi:type="dcterms:W3CDTF">2013-01-27T09:14:16Z</dcterms:created>
  <dcterms:modified xsi:type="dcterms:W3CDTF">2026-05-29T05:46:43Z</dcterms:modified>
  <cp:category/>
</cp:coreProperties>
</file>